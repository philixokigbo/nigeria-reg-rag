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D2E"/>
                </a:solidFill>
                <a:latin typeface="Calibri"/>
              </a:defRPr>
            </a:pPr>
            <a:r>
              <a:rPr sz="1200" b="0" i="0" u="none" strike="noStrike">
                <a:solidFill>
                  <a:srgbClr val="0B3D2E"/>
                </a:solidFill>
                <a:latin typeface="Calibri"/>
              </a:rPr>
              <a:t>Chunks by regulator</a:t>
            </a:r>
          </a:p>
        </c:rich>
      </c:tx>
      <c:layout/>
      <c:overlay val="0"/>
    </c:title>
    <c:autoTitleDeleted val="0"/>
    <c:plotArea>
      <c:layout/>
      <c:barChart>
        <c:barDir val="bar"/>
        <c:grouping val="clustered"/>
        <c:varyColors val="0"/>
        <c:ser>
          <c:idx val="0"/>
          <c:order val="0"/>
          <c:tx>
            <c:strRef>
              <c:f>Sheet1!$B$1</c:f>
              <c:strCache>
                <c:ptCount val="1"/>
                <c:pt idx="0">
                  <c:v>Chunks</c:v>
                </c:pt>
              </c:strCache>
            </c:strRef>
          </c:tx>
          <c:spPr>
            <a:solidFill>
              <a:srgbClr val="1F7A55"/>
            </a:solidFill>
            <a:effectLst/>
          </c:spPr>
          <c:invertIfNegative val="0"/>
          <c:dLbls>
            <c:numFmt formatCode="#,##0" sourceLinked="0"/>
            <c:txPr>
              <a:bodyPr/>
              <a:lstStyle/>
              <a:p>
                <a:pPr>
                  <a:defRPr b="0" i="0" strike="noStrike" sz="1000" u="none">
                    <a:solidFill>
                      <a:srgbClr val="1C2B2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FGN (statute)</c:v>
                  </c:pt>
                  <c:pt idx="1">
                    <c:v>NDIC</c:v>
                  </c:pt>
                  <c:pt idx="2">
                    <c:v>CBN</c:v>
                  </c:pt>
                  <c:pt idx="3">
                    <c:v>SEC</c:v>
                  </c:pt>
                </c:lvl>
              </c:multiLvlStrCache>
            </c:multiLvlStrRef>
          </c:cat>
          <c:val>
            <c:numRef>
              <c:f>Sheet1!$B$2:$B$5</c:f>
              <c:numCache>
                <c:formatCode>General</c:formatCode>
                <c:ptCount val="4"/>
                <c:pt idx="0">
                  <c:v>82</c:v>
                </c:pt>
                <c:pt idx="1">
                  <c:v>237</c:v>
                </c:pt>
                <c:pt idx="2">
                  <c:v>1173</c:v>
                </c:pt>
                <c:pt idx="3">
                  <c:v>2336</c:v>
                </c:pt>
              </c:numCache>
            </c:numRef>
          </c:val>
        </c:ser>
        <c:dLbls>
          <c:numFmt formatCode="#,##0" sourceLinked="0"/>
          <c:txPr>
            <a:bodyPr/>
            <a:lstStyle/>
            <a:p>
              <a:pPr>
                <a:defRPr b="0" i="0" strike="noStrike" sz="1000" u="none">
                  <a:solidFill>
                    <a:srgbClr val="1C2B2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2B2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 rate @ 5</c:v>
                </c:pt>
              </c:strCache>
            </c:strRef>
          </c:tx>
          <c:spPr>
            <a:solidFill>
              <a:srgbClr val="1F7A55"/>
            </a:solidFill>
            <a:effectLst/>
          </c:spPr>
          <c:invertIfNegative val="0"/>
          <c:dLbls>
            <c:numFmt formatCode="0.00" sourceLinked="0"/>
            <c:txPr>
              <a:bodyPr/>
              <a:lstStyle/>
              <a:p>
                <a:pPr>
                  <a:defRPr b="0" i="0" strike="noStrike" sz="1000" u="none">
                    <a:solidFill>
                      <a:srgbClr val="1C2B2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Dense</c:v>
                  </c:pt>
                  <c:pt idx="1">
                    <c:v>BM25</c:v>
                  </c:pt>
                  <c:pt idx="2">
                    <c:v>Hybrid (RRF)</c:v>
                  </c:pt>
                  <c:pt idx="3">
                    <c:v>Hybrid + reranker</c:v>
                  </c:pt>
                </c:lvl>
              </c:multiLvlStrCache>
            </c:multiLvlStrRef>
          </c:cat>
          <c:val>
            <c:numRef>
              <c:f>Sheet1!$B$2:$B$5</c:f>
              <c:numCache>
                <c:formatCode>General</c:formatCode>
                <c:ptCount val="4"/>
                <c:pt idx="0">
                  <c:v>0.875</c:v>
                </c:pt>
                <c:pt idx="1">
                  <c:v>0.813</c:v>
                </c:pt>
                <c:pt idx="2">
                  <c:v>0.938</c:v>
                </c:pt>
                <c:pt idx="3">
                  <c:v>0.875</c:v>
                </c:pt>
              </c:numCache>
            </c:numRef>
          </c:val>
        </c:ser>
        <c:ser>
          <c:idx val="1"/>
          <c:order val="1"/>
          <c:tx>
            <c:strRef>
              <c:f>Sheet1!$C$1</c:f>
              <c:strCache>
                <c:ptCount val="1"/>
                <c:pt idx="0">
                  <c:v>MRR</c:v>
                </c:pt>
              </c:strCache>
            </c:strRef>
          </c:tx>
          <c:spPr>
            <a:solidFill>
              <a:srgbClr val="D99A1E"/>
            </a:solidFill>
            <a:effectLst/>
          </c:spPr>
          <c:invertIfNegative val="0"/>
          <c:dLbls>
            <c:numFmt formatCode="0.00" sourceLinked="0"/>
            <c:txPr>
              <a:bodyPr/>
              <a:lstStyle/>
              <a:p>
                <a:pPr>
                  <a:defRPr b="0" i="0" strike="noStrike" sz="1000" u="none">
                    <a:solidFill>
                      <a:srgbClr val="1C2B2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Dense</c:v>
                  </c:pt>
                  <c:pt idx="1">
                    <c:v>BM25</c:v>
                  </c:pt>
                  <c:pt idx="2">
                    <c:v>Hybrid (RRF)</c:v>
                  </c:pt>
                  <c:pt idx="3">
                    <c:v>Hybrid + reranker</c:v>
                  </c:pt>
                </c:lvl>
              </c:multiLvlStrCache>
            </c:multiLvlStrRef>
          </c:cat>
          <c:val>
            <c:numRef>
              <c:f>Sheet1!$C$2:$C$5</c:f>
              <c:numCache>
                <c:formatCode>General</c:formatCode>
                <c:ptCount val="4"/>
                <c:pt idx="0">
                  <c:v>0.781</c:v>
                </c:pt>
                <c:pt idx="1">
                  <c:v>0.667</c:v>
                </c:pt>
                <c:pt idx="2">
                  <c:v>0.695</c:v>
                </c:pt>
                <c:pt idx="3">
                  <c:v>0.794</c:v>
                </c:pt>
              </c:numCache>
            </c:numRef>
          </c:val>
        </c:ser>
        <c:dLbls>
          <c:numFmt formatCode="0.00" sourceLinked="0"/>
          <c:txPr>
            <a:bodyPr/>
            <a:lstStyle/>
            <a:p>
              <a:pPr>
                <a:defRPr b="0" i="0" strike="noStrike" sz="1000" u="none">
                  <a:solidFill>
                    <a:srgbClr val="1C2B2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2B25"/>
                </a:solidFill>
                <a:latin typeface="Calibri"/>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C2B2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an answer bot over Nigerian banking regulation that answers only from the documents, cites every claim, and refuses when the documents don't cover the question. The brief allowed using our own dataset in place of the ArXiv papers, with the same project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covers the whole course, so this is a quick map of the earlier assignments and what each contributed. The capstone reuses the agent and pipeline thinking, the tokenizer intuition behind BM25's tokenizer, and the RAG basics from the LlamaIndex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project steps as the brief, different documents. Regulation raises the stakes: a confident wrong answer about capital requirements or AML obligations is worse than no answer, which is why grounding, citations and refusals were design requirements from the start rather than add-ons.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against the brief. Six of seven compulsory goals are fully met. The honest partial is embeddings: I chose one open-source model for cost, privacy and local running, and experimented with what text it embeds, but did not run a side-by-side model comparison. For stretch goals I delivered Option 2, the Streamlit app, and part of Option 1: each browser session has its own history, but follow-up questions are not yet rewritten into standalone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fully scripted, from scraping the regulators' sites to indexing. Seven documents were scanned images, so they went through Tesseract OCR and are flagged in any answer that relies on them. Every chunk carries its regulator, reference number and page, which is what lets the app cite precisely. Note the imbalance: SEC rules make up 61 percent of the chunks, which matters for retrieval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one open-source embedding model deliberately: it's free, runs locally, and nothing leaves the machine at indexing time. The experiment I did run was on what text gets embedded. Adding a short metadata header to every chunk made reference numbers and document titles searchable, and it turned the reranker from the worst method into the best-ordered one. What I haven't done is compare several embedding models side by side, including a commercial one such as OpenAI's; that's the first item on my next-steps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four strategies on 16 questions with known source documents, sweeping k from 1 to 10. Hybrid reciprocal-rank fusion of dense and BM25 had the best hit rate at k = 5, finding the right document for 15 of 16 questions. The reranker gave the best ordering, but since all five chunks go to the LLM, ordering inside the context matters little, and it costs a 1.1 GB model and a second per query. The surprise was how strong dense alone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every question takes. Routing nudges ranking toward the regulator the question is about, but never removes documents, so a misread question costs rank, not recall. Neighbour expansion adds the chunks on either side because scanned statutes often split a rule mid-sentence. For sources I went beyond the brief's top three: the app shows exactly the passages the answer cited, which fixed an early bug where a citation like [4] pointed at a passage the reader couldn't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here. Show an answered question and open a source panel to show the passage text, then ask the Kenya question to show the refusal. Point out the caption under each answer saying which model answered: if Gemini's primary model is busy or out of free-tier quota, the app falls back to a lighter model and says so. Each browser session keeps its own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was graded against the passages it cited, not against outside knowledge, and the results are in data/phase6_results.csv. Two of the five partials aren't system faults at all: the answers simply don't exist in the documents I ingested. Two came from the SEC-heavy corpus pulling bank questions toward capital-market rules. The one wrong answer turned out to be the most interesting finding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refused this question, which looked like a retrieval failure. It wasn't. The PDF's text layer was a letter-for-letter substitution cipher caused by a non-standard font encoding, so the word 'complaint' appeared nowhere in a complaints document. Refusing was actually the correct behaviour on unreadable text. I re-rendered the pages and ran OCR, the document went from rank 621 to rank 1, and the question now answers correctly. The lesson: the biggest quality gain came from fixing the data, and I added a quality gate so this is caught at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name the limits than have them discovered. The follow-up limitation is stated in the app's own sidebar. The next-steps list is ordered by value: the embedding comparison closes the one partial compulsory goal, and the BM25 finding suggests the dense half of retrieval may be adding noise, which is worth testing before adding more machinery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then open for questions. The repository has the code, the evaluation set and graded results, and a README with setup steps and the same limitations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PhilixOkigbo/nigeria-reg-rag"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Text 0"/>
          <p:cNvSpPr txBox="1"/>
          <p:nvPr/>
        </p:nvSpPr>
        <p:spPr>
          <a:xfrm>
            <a:off x="548640" y="914400"/>
            <a:ext cx="5852160" cy="274320"/>
          </a:xfrm>
          <a:prstGeom prst="rect">
            <a:avLst/>
          </a:prstGeom>
          <a:noFill/>
          <a:ln/>
        </p:spPr>
        <p:txBody>
          <a:bodyPr wrap="square" lIns="0" tIns="0" rIns="0" bIns="0" rtlCol="0" anchor="t"/>
          <a:lstStyle/>
          <a:p>
            <a:pPr indent="0" marL="0">
              <a:buNone/>
            </a:pPr>
            <a:r>
              <a:rPr lang="en-US" sz="1200" b="1" spc="200" kern="0" dirty="0">
                <a:solidFill>
                  <a:srgbClr val="D99A1E"/>
                </a:solidFill>
                <a:latin typeface="Calibri" pitchFamily="34" charset="0"/>
                <a:ea typeface="Calibri" pitchFamily="34" charset="-122"/>
                <a:cs typeface="Calibri" pitchFamily="34" charset="-120"/>
              </a:rPr>
              <a:t>CAPSTONE PROJECT  ·  GENAI PINNACLE PROGRAM</a:t>
            </a:r>
            <a:endParaRPr lang="en-US" sz="1200" dirty="0"/>
          </a:p>
        </p:txBody>
      </p:sp>
      <p:sp>
        <p:nvSpPr>
          <p:cNvPr id="3" name="Text 1"/>
          <p:cNvSpPr txBox="1"/>
          <p:nvPr/>
        </p:nvSpPr>
        <p:spPr>
          <a:xfrm>
            <a:off x="548640" y="1261872"/>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Nigerian Banking Regulation Assistant</a:t>
            </a:r>
            <a:endParaRPr lang="en-US" sz="3800" dirty="0"/>
          </a:p>
        </p:txBody>
      </p:sp>
      <p:sp>
        <p:nvSpPr>
          <p:cNvPr id="4" name="Text 2"/>
          <p:cNvSpPr txBox="1"/>
          <p:nvPr/>
        </p:nvSpPr>
        <p:spPr>
          <a:xfrm>
            <a:off x="548640" y="2697480"/>
            <a:ext cx="5669280" cy="822960"/>
          </a:xfrm>
          <a:prstGeom prst="rect">
            <a:avLst/>
          </a:prstGeom>
          <a:noFill/>
          <a:ln/>
        </p:spPr>
        <p:txBody>
          <a:bodyPr wrap="square" lIns="0" tIns="0" rIns="0" bIns="0" rtlCol="0" anchor="t"/>
          <a:lstStyle/>
          <a:p>
            <a:pPr indent="0" marL="0">
              <a:buNone/>
            </a:pPr>
            <a:r>
              <a:rPr lang="en-US" sz="1500" dirty="0">
                <a:solidFill>
                  <a:srgbClr val="E6F2EC"/>
                </a:solidFill>
                <a:latin typeface="Calibri" pitchFamily="34" charset="0"/>
                <a:ea typeface="Calibri" pitchFamily="34" charset="-122"/>
                <a:cs typeface="Calibri" pitchFamily="34" charset="-120"/>
              </a:rPr>
              <a:t>A retrieval-augmented answer bot over CBN, SEC, NDIC and federal regulation — every answer grounded in the documents and cited.</a:t>
            </a:r>
            <a:endParaRPr lang="en-US" sz="1500" dirty="0"/>
          </a:p>
        </p:txBody>
      </p:sp>
      <p:sp>
        <p:nvSpPr>
          <p:cNvPr id="5" name="Text 3"/>
          <p:cNvSpPr txBox="1"/>
          <p:nvPr/>
        </p:nvSpPr>
        <p:spPr>
          <a:xfrm>
            <a:off x="548640" y="3886200"/>
            <a:ext cx="45720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Chinedu Okigbo</a:t>
            </a:r>
            <a:endParaRPr lang="en-US" sz="1600" dirty="0"/>
          </a:p>
        </p:txBody>
      </p:sp>
      <p:sp>
        <p:nvSpPr>
          <p:cNvPr id="6" name="Text 4"/>
          <p:cNvSpPr txBox="1"/>
          <p:nvPr/>
        </p:nvSpPr>
        <p:spPr>
          <a:xfrm>
            <a:off x="548640" y="4224528"/>
            <a:ext cx="5486400" cy="274320"/>
          </a:xfrm>
          <a:prstGeom prst="rect">
            <a:avLst/>
          </a:prstGeom>
          <a:noFill/>
          <a:ln/>
        </p:spPr>
        <p:txBody>
          <a:bodyPr wrap="square" lIns="0" tIns="0" rIns="0" bIns="0" rtlCol="0" anchor="t"/>
          <a:lstStyle/>
          <a:p>
            <a:pPr indent="0" marL="0">
              <a:buNone/>
            </a:pPr>
            <a:r>
              <a:rPr lang="en-US" sz="1200" dirty="0">
                <a:solidFill>
                  <a:srgbClr val="E6F2EC"/>
                </a:solidFill>
                <a:latin typeface="Calibri" pitchFamily="34" charset="0"/>
                <a:ea typeface="Calibri" pitchFamily="34" charset="-122"/>
                <a:cs typeface="Calibri" pitchFamily="34" charset="-120"/>
              </a:rPr>
              <a:t>Analytics Vidhya  ·  Generative AI Pinnacle Program</a:t>
            </a:r>
            <a:endParaRPr lang="en-US" sz="1200" dirty="0"/>
          </a:p>
        </p:txBody>
      </p:sp>
      <p:sp>
        <p:nvSpPr>
          <p:cNvPr id="7" name="Shape 5"/>
          <p:cNvSpPr/>
          <p:nvPr/>
        </p:nvSpPr>
        <p:spPr>
          <a:xfrm>
            <a:off x="6675120" y="1325880"/>
            <a:ext cx="2103120" cy="2103120"/>
          </a:xfrm>
          <a:prstGeom prst="ellipse">
            <a:avLst/>
          </a:prstGeom>
          <a:solidFill>
            <a:srgbClr val="1F7A55"/>
          </a:solidFill>
          <a:ln w="6350">
            <a:solidFill>
              <a:srgbClr val="1F7A55"/>
            </a:solidFill>
            <a:prstDash val="solid"/>
          </a:ln>
        </p:spPr>
      </p:sp>
      <p:sp>
        <p:nvSpPr>
          <p:cNvPr id="8" name="Text 6"/>
          <p:cNvSpPr txBox="1"/>
          <p:nvPr/>
        </p:nvSpPr>
        <p:spPr>
          <a:xfrm>
            <a:off x="6675120" y="1325880"/>
            <a:ext cx="2103120" cy="2103120"/>
          </a:xfrm>
          <a:prstGeom prst="rect">
            <a:avLst/>
          </a:prstGeom>
          <a:noFill/>
          <a:ln/>
        </p:spPr>
        <p:txBody>
          <a:bodyPr wrap="square" lIns="0" tIns="0" rIns="0" bIns="0" rtlCol="0" anchor="ctr"/>
          <a:lstStyle/>
          <a:p>
            <a:pPr algn="ctr" indent="0" marL="0">
              <a:buNone/>
            </a:pPr>
            <a:r>
              <a:rPr lang="en-US" sz="11000" dirty="0">
                <a:solidFill>
                  <a:srgbClr val="FFFFFF"/>
                </a:solidFill>
                <a:latin typeface="Cambria" pitchFamily="34" charset="0"/>
                <a:ea typeface="Cambria" pitchFamily="34" charset="-122"/>
                <a:cs typeface="Cambria" pitchFamily="34" charset="-120"/>
              </a:rPr>
              <a:t>§</a:t>
            </a:r>
            <a:endParaRPr lang="en-US" sz="1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COURSE JOURNEY</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From the course to the capstone</a:t>
            </a:r>
            <a:endParaRPr lang="en-US" sz="2800" dirty="0"/>
          </a:p>
        </p:txBody>
      </p:sp>
      <p:sp>
        <p:nvSpPr>
          <p:cNvPr id="4" name="Shape 2"/>
          <p:cNvSpPr/>
          <p:nvPr/>
        </p:nvSpPr>
        <p:spPr>
          <a:xfrm>
            <a:off x="457200" y="1280160"/>
            <a:ext cx="1517904" cy="2286000"/>
          </a:xfrm>
          <a:prstGeom prst="roundRect">
            <a:avLst>
              <a:gd name="adj" fmla="val 4819"/>
            </a:avLst>
          </a:prstGeom>
          <a:solidFill>
            <a:srgbClr val="E6F2EC"/>
          </a:solidFill>
          <a:ln w="6350">
            <a:solidFill>
              <a:srgbClr val="E6F2EC"/>
            </a:solidFill>
            <a:prstDash val="solid"/>
          </a:ln>
        </p:spPr>
      </p:sp>
      <p:sp>
        <p:nvSpPr>
          <p:cNvPr id="5" name="Shape 3"/>
          <p:cNvSpPr/>
          <p:nvPr/>
        </p:nvSpPr>
        <p:spPr>
          <a:xfrm>
            <a:off x="621792" y="1481328"/>
            <a:ext cx="548640" cy="548640"/>
          </a:xfrm>
          <a:prstGeom prst="ellipse">
            <a:avLst/>
          </a:prstGeom>
          <a:solidFill>
            <a:srgbClr val="1F7A55"/>
          </a:solidFill>
          <a:ln w="6350">
            <a:solidFill>
              <a:srgbClr val="1F7A55"/>
            </a:solidFill>
            <a:prstDash val="solid"/>
          </a:ln>
        </p:spPr>
      </p:sp>
      <p:pic>
        <p:nvPicPr>
          <p:cNvPr id="6" name="Image 0" descr="preencoded.png">    </p:cNvPr>
          <p:cNvPicPr>
            <a:picLocks noChangeAspect="1"/>
          </p:cNvPicPr>
          <p:nvPr/>
        </p:nvPicPr>
        <p:blipFill>
          <a:blip r:embed="rId1"/>
          <a:stretch>
            <a:fillRect/>
          </a:stretch>
        </p:blipFill>
        <p:spPr>
          <a:xfrm>
            <a:off x="745236" y="1604772"/>
            <a:ext cx="301752" cy="301752"/>
          </a:xfrm>
          <a:prstGeom prst="rect">
            <a:avLst/>
          </a:prstGeom>
        </p:spPr>
      </p:pic>
      <p:sp>
        <p:nvSpPr>
          <p:cNvPr id="7" name="Text 4"/>
          <p:cNvSpPr txBox="1"/>
          <p:nvPr/>
        </p:nvSpPr>
        <p:spPr>
          <a:xfrm>
            <a:off x="594360" y="2194560"/>
            <a:ext cx="1243584" cy="310896"/>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AutoGen agents</a:t>
            </a:r>
            <a:endParaRPr lang="en-US" sz="1250" dirty="0"/>
          </a:p>
        </p:txBody>
      </p:sp>
      <p:sp>
        <p:nvSpPr>
          <p:cNvPr id="8" name="Text 5"/>
          <p:cNvSpPr txBox="1"/>
          <p:nvPr/>
        </p:nvSpPr>
        <p:spPr>
          <a:xfrm>
            <a:off x="594360" y="2542032"/>
            <a:ext cx="1243584" cy="914400"/>
          </a:xfrm>
          <a:prstGeom prst="rect">
            <a:avLst/>
          </a:prstGeom>
          <a:noFill/>
          <a:ln/>
        </p:spPr>
        <p:txBody>
          <a:bodyPr wrap="square" lIns="0" tIns="0" rIns="0" bIns="0" rtlCol="0" anchor="t"/>
          <a:lstStyle/>
          <a:p>
            <a:pPr indent="0" marL="0">
              <a:buNone/>
            </a:pPr>
            <a:r>
              <a:rPr lang="en-US" sz="1050" dirty="0">
                <a:solidFill>
                  <a:srgbClr val="5B6B64"/>
                </a:solidFill>
                <a:latin typeface="Calibri" pitchFamily="34" charset="0"/>
                <a:ea typeface="Calibri" pitchFamily="34" charset="-122"/>
                <a:cs typeface="Calibri" pitchFamily="34" charset="-120"/>
              </a:rPr>
              <a:t>Multi-agent exploratory data analysis</a:t>
            </a:r>
            <a:endParaRPr lang="en-US" sz="1050" dirty="0"/>
          </a:p>
        </p:txBody>
      </p:sp>
      <p:sp>
        <p:nvSpPr>
          <p:cNvPr id="9" name="Shape 6"/>
          <p:cNvSpPr/>
          <p:nvPr/>
        </p:nvSpPr>
        <p:spPr>
          <a:xfrm>
            <a:off x="2135124" y="1280160"/>
            <a:ext cx="1517904" cy="2286000"/>
          </a:xfrm>
          <a:prstGeom prst="roundRect">
            <a:avLst>
              <a:gd name="adj" fmla="val 4819"/>
            </a:avLst>
          </a:prstGeom>
          <a:solidFill>
            <a:srgbClr val="E6F2EC"/>
          </a:solidFill>
          <a:ln w="6350">
            <a:solidFill>
              <a:srgbClr val="E6F2EC"/>
            </a:solidFill>
            <a:prstDash val="solid"/>
          </a:ln>
        </p:spPr>
      </p:sp>
      <p:sp>
        <p:nvSpPr>
          <p:cNvPr id="10" name="Shape 7"/>
          <p:cNvSpPr/>
          <p:nvPr/>
        </p:nvSpPr>
        <p:spPr>
          <a:xfrm>
            <a:off x="2299716" y="1481328"/>
            <a:ext cx="548640" cy="548640"/>
          </a:xfrm>
          <a:prstGeom prst="ellipse">
            <a:avLst/>
          </a:prstGeom>
          <a:solidFill>
            <a:srgbClr val="1F7A55"/>
          </a:solidFill>
          <a:ln w="6350">
            <a:solidFill>
              <a:srgbClr val="1F7A55"/>
            </a:solidFill>
            <a:prstDash val="solid"/>
          </a:ln>
        </p:spPr>
      </p:sp>
      <p:pic>
        <p:nvPicPr>
          <p:cNvPr id="11" name="Image 1" descr="preencoded.png">    </p:cNvPr>
          <p:cNvPicPr>
            <a:picLocks noChangeAspect="1"/>
          </p:cNvPicPr>
          <p:nvPr/>
        </p:nvPicPr>
        <p:blipFill>
          <a:blip r:embed="rId2"/>
          <a:stretch>
            <a:fillRect/>
          </a:stretch>
        </p:blipFill>
        <p:spPr>
          <a:xfrm>
            <a:off x="2423160" y="1604772"/>
            <a:ext cx="301752" cy="301752"/>
          </a:xfrm>
          <a:prstGeom prst="rect">
            <a:avLst/>
          </a:prstGeom>
        </p:spPr>
      </p:pic>
      <p:sp>
        <p:nvSpPr>
          <p:cNvPr id="12" name="Text 8"/>
          <p:cNvSpPr txBox="1"/>
          <p:nvPr/>
        </p:nvSpPr>
        <p:spPr>
          <a:xfrm>
            <a:off x="2272284" y="2194560"/>
            <a:ext cx="1243584" cy="310896"/>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LangGraph agent</a:t>
            </a:r>
            <a:endParaRPr lang="en-US" sz="1250" dirty="0"/>
          </a:p>
        </p:txBody>
      </p:sp>
      <p:sp>
        <p:nvSpPr>
          <p:cNvPr id="13" name="Text 9"/>
          <p:cNvSpPr txBox="1"/>
          <p:nvPr/>
        </p:nvSpPr>
        <p:spPr>
          <a:xfrm>
            <a:off x="2272284" y="2542032"/>
            <a:ext cx="1243584" cy="914400"/>
          </a:xfrm>
          <a:prstGeom prst="rect">
            <a:avLst/>
          </a:prstGeom>
          <a:noFill/>
          <a:ln/>
        </p:spPr>
        <p:txBody>
          <a:bodyPr wrap="square" lIns="0" tIns="0" rIns="0" bIns="0" rtlCol="0" anchor="t"/>
          <a:lstStyle/>
          <a:p>
            <a:pPr indent="0" marL="0">
              <a:buNone/>
            </a:pPr>
            <a:r>
              <a:rPr lang="en-US" sz="1050" dirty="0">
                <a:solidFill>
                  <a:srgbClr val="5B6B64"/>
                </a:solidFill>
                <a:latin typeface="Calibri" pitchFamily="34" charset="0"/>
                <a:ea typeface="Calibri" pitchFamily="34" charset="-122"/>
                <a:cs typeface="Calibri" pitchFamily="34" charset="-120"/>
              </a:rPr>
              <a:t>Competitor-intelligence workflow with state and steps</a:t>
            </a:r>
            <a:endParaRPr lang="en-US" sz="1050" dirty="0"/>
          </a:p>
        </p:txBody>
      </p:sp>
      <p:sp>
        <p:nvSpPr>
          <p:cNvPr id="14" name="Shape 10"/>
          <p:cNvSpPr/>
          <p:nvPr/>
        </p:nvSpPr>
        <p:spPr>
          <a:xfrm>
            <a:off x="3813048" y="1280160"/>
            <a:ext cx="1517904" cy="2286000"/>
          </a:xfrm>
          <a:prstGeom prst="roundRect">
            <a:avLst>
              <a:gd name="adj" fmla="val 4819"/>
            </a:avLst>
          </a:prstGeom>
          <a:solidFill>
            <a:srgbClr val="E6F2EC"/>
          </a:solidFill>
          <a:ln w="6350">
            <a:solidFill>
              <a:srgbClr val="E6F2EC"/>
            </a:solidFill>
            <a:prstDash val="solid"/>
          </a:ln>
        </p:spPr>
      </p:sp>
      <p:sp>
        <p:nvSpPr>
          <p:cNvPr id="15" name="Shape 11"/>
          <p:cNvSpPr/>
          <p:nvPr/>
        </p:nvSpPr>
        <p:spPr>
          <a:xfrm>
            <a:off x="3977640" y="1481328"/>
            <a:ext cx="548640" cy="548640"/>
          </a:xfrm>
          <a:prstGeom prst="ellipse">
            <a:avLst/>
          </a:prstGeom>
          <a:solidFill>
            <a:srgbClr val="1F7A55"/>
          </a:solidFill>
          <a:ln w="6350">
            <a:solidFill>
              <a:srgbClr val="1F7A55"/>
            </a:solidFill>
            <a:prstDash val="solid"/>
          </a:ln>
        </p:spPr>
      </p:sp>
      <p:pic>
        <p:nvPicPr>
          <p:cNvPr id="16" name="Image 2" descr="preencoded.png">    </p:cNvPr>
          <p:cNvPicPr>
            <a:picLocks noChangeAspect="1"/>
          </p:cNvPicPr>
          <p:nvPr/>
        </p:nvPicPr>
        <p:blipFill>
          <a:blip r:embed="rId3"/>
          <a:stretch>
            <a:fillRect/>
          </a:stretch>
        </p:blipFill>
        <p:spPr>
          <a:xfrm>
            <a:off x="4101084" y="1604772"/>
            <a:ext cx="301752" cy="301752"/>
          </a:xfrm>
          <a:prstGeom prst="rect">
            <a:avLst/>
          </a:prstGeom>
        </p:spPr>
      </p:pic>
      <p:sp>
        <p:nvSpPr>
          <p:cNvPr id="17" name="Text 12"/>
          <p:cNvSpPr txBox="1"/>
          <p:nvPr/>
        </p:nvSpPr>
        <p:spPr>
          <a:xfrm>
            <a:off x="3950208" y="2194560"/>
            <a:ext cx="1243584" cy="310896"/>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BPE tokenizer</a:t>
            </a:r>
            <a:endParaRPr lang="en-US" sz="1250" dirty="0"/>
          </a:p>
        </p:txBody>
      </p:sp>
      <p:sp>
        <p:nvSpPr>
          <p:cNvPr id="18" name="Text 13"/>
          <p:cNvSpPr txBox="1"/>
          <p:nvPr/>
        </p:nvSpPr>
        <p:spPr>
          <a:xfrm>
            <a:off x="3950208" y="2542032"/>
            <a:ext cx="1243584" cy="914400"/>
          </a:xfrm>
          <a:prstGeom prst="rect">
            <a:avLst/>
          </a:prstGeom>
          <a:noFill/>
          <a:ln/>
        </p:spPr>
        <p:txBody>
          <a:bodyPr wrap="square" lIns="0" tIns="0" rIns="0" bIns="0" rtlCol="0" anchor="t"/>
          <a:lstStyle/>
          <a:p>
            <a:pPr indent="0" marL="0">
              <a:buNone/>
            </a:pPr>
            <a:r>
              <a:rPr lang="en-US" sz="1050" dirty="0">
                <a:solidFill>
                  <a:srgbClr val="5B6B64"/>
                </a:solidFill>
                <a:latin typeface="Calibri" pitchFamily="34" charset="0"/>
                <a:ea typeface="Calibri" pitchFamily="34" charset="-122"/>
                <a:cs typeface="Calibri" pitchFamily="34" charset="-120"/>
              </a:rPr>
              <a:t>Built from scratch on WikiText-2</a:t>
            </a:r>
            <a:endParaRPr lang="en-US" sz="1050" dirty="0"/>
          </a:p>
        </p:txBody>
      </p:sp>
      <p:sp>
        <p:nvSpPr>
          <p:cNvPr id="19" name="Shape 14"/>
          <p:cNvSpPr/>
          <p:nvPr/>
        </p:nvSpPr>
        <p:spPr>
          <a:xfrm>
            <a:off x="5490972" y="1280160"/>
            <a:ext cx="1517904" cy="2286000"/>
          </a:xfrm>
          <a:prstGeom prst="roundRect">
            <a:avLst>
              <a:gd name="adj" fmla="val 4819"/>
            </a:avLst>
          </a:prstGeom>
          <a:solidFill>
            <a:srgbClr val="E6F2EC"/>
          </a:solidFill>
          <a:ln w="6350">
            <a:solidFill>
              <a:srgbClr val="E6F2EC"/>
            </a:solidFill>
            <a:prstDash val="solid"/>
          </a:ln>
        </p:spPr>
      </p:sp>
      <p:sp>
        <p:nvSpPr>
          <p:cNvPr id="20" name="Shape 15"/>
          <p:cNvSpPr/>
          <p:nvPr/>
        </p:nvSpPr>
        <p:spPr>
          <a:xfrm>
            <a:off x="5655564" y="1481328"/>
            <a:ext cx="548640" cy="548640"/>
          </a:xfrm>
          <a:prstGeom prst="ellipse">
            <a:avLst/>
          </a:prstGeom>
          <a:solidFill>
            <a:srgbClr val="1F7A55"/>
          </a:solidFill>
          <a:ln w="6350">
            <a:solidFill>
              <a:srgbClr val="1F7A55"/>
            </a:solidFill>
            <a:prstDash val="solid"/>
          </a:ln>
        </p:spPr>
      </p:sp>
      <p:pic>
        <p:nvPicPr>
          <p:cNvPr id="21" name="Image 3" descr="preencoded.png">    </p:cNvPr>
          <p:cNvPicPr>
            <a:picLocks noChangeAspect="1"/>
          </p:cNvPicPr>
          <p:nvPr/>
        </p:nvPicPr>
        <p:blipFill>
          <a:blip r:embed="rId4"/>
          <a:stretch>
            <a:fillRect/>
          </a:stretch>
        </p:blipFill>
        <p:spPr>
          <a:xfrm>
            <a:off x="5779008" y="1604772"/>
            <a:ext cx="301752" cy="301752"/>
          </a:xfrm>
          <a:prstGeom prst="rect">
            <a:avLst/>
          </a:prstGeom>
        </p:spPr>
      </p:pic>
      <p:sp>
        <p:nvSpPr>
          <p:cNvPr id="22" name="Text 16"/>
          <p:cNvSpPr txBox="1"/>
          <p:nvPr/>
        </p:nvSpPr>
        <p:spPr>
          <a:xfrm>
            <a:off x="5628132" y="2194560"/>
            <a:ext cx="1243584" cy="310896"/>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Fine-tuning</a:t>
            </a:r>
            <a:endParaRPr lang="en-US" sz="1250" dirty="0"/>
          </a:p>
        </p:txBody>
      </p:sp>
      <p:sp>
        <p:nvSpPr>
          <p:cNvPr id="23" name="Text 17"/>
          <p:cNvSpPr txBox="1"/>
          <p:nvPr/>
        </p:nvSpPr>
        <p:spPr>
          <a:xfrm>
            <a:off x="5628132" y="2542032"/>
            <a:ext cx="1243584" cy="914400"/>
          </a:xfrm>
          <a:prstGeom prst="rect">
            <a:avLst/>
          </a:prstGeom>
          <a:noFill/>
          <a:ln/>
        </p:spPr>
        <p:txBody>
          <a:bodyPr wrap="square" lIns="0" tIns="0" rIns="0" bIns="0" rtlCol="0" anchor="t"/>
          <a:lstStyle/>
          <a:p>
            <a:pPr indent="0" marL="0">
              <a:buNone/>
            </a:pPr>
            <a:r>
              <a:rPr lang="en-US" sz="1050" dirty="0">
                <a:solidFill>
                  <a:srgbClr val="5B6B64"/>
                </a:solidFill>
                <a:latin typeface="Calibri" pitchFamily="34" charset="0"/>
                <a:ea typeface="Calibri" pitchFamily="34" charset="-122"/>
                <a:cs typeface="Calibri" pitchFamily="34" charset="-120"/>
              </a:rPr>
              <a:t>QLoRA and BERT, adapting models to a task</a:t>
            </a:r>
            <a:endParaRPr lang="en-US" sz="1050" dirty="0"/>
          </a:p>
        </p:txBody>
      </p:sp>
      <p:sp>
        <p:nvSpPr>
          <p:cNvPr id="24" name="Shape 18"/>
          <p:cNvSpPr/>
          <p:nvPr/>
        </p:nvSpPr>
        <p:spPr>
          <a:xfrm>
            <a:off x="7168896" y="1280160"/>
            <a:ext cx="1517904" cy="2286000"/>
          </a:xfrm>
          <a:prstGeom prst="roundRect">
            <a:avLst>
              <a:gd name="adj" fmla="val 4819"/>
            </a:avLst>
          </a:prstGeom>
          <a:solidFill>
            <a:srgbClr val="E6F2EC"/>
          </a:solidFill>
          <a:ln w="6350">
            <a:solidFill>
              <a:srgbClr val="E6F2EC"/>
            </a:solidFill>
            <a:prstDash val="solid"/>
          </a:ln>
        </p:spPr>
      </p:sp>
      <p:sp>
        <p:nvSpPr>
          <p:cNvPr id="25" name="Shape 19"/>
          <p:cNvSpPr/>
          <p:nvPr/>
        </p:nvSpPr>
        <p:spPr>
          <a:xfrm>
            <a:off x="7333488" y="1481328"/>
            <a:ext cx="548640" cy="548640"/>
          </a:xfrm>
          <a:prstGeom prst="ellipse">
            <a:avLst/>
          </a:prstGeom>
          <a:solidFill>
            <a:srgbClr val="1F7A55"/>
          </a:solidFill>
          <a:ln w="6350">
            <a:solidFill>
              <a:srgbClr val="1F7A55"/>
            </a:solidFill>
            <a:prstDash val="solid"/>
          </a:ln>
        </p:spPr>
      </p:sp>
      <p:pic>
        <p:nvPicPr>
          <p:cNvPr id="26" name="Image 4" descr="preencoded.png">    </p:cNvPr>
          <p:cNvPicPr>
            <a:picLocks noChangeAspect="1"/>
          </p:cNvPicPr>
          <p:nvPr/>
        </p:nvPicPr>
        <p:blipFill>
          <a:blip r:embed="rId5"/>
          <a:stretch>
            <a:fillRect/>
          </a:stretch>
        </p:blipFill>
        <p:spPr>
          <a:xfrm>
            <a:off x="7456932" y="1604772"/>
            <a:ext cx="301752" cy="301752"/>
          </a:xfrm>
          <a:prstGeom prst="rect">
            <a:avLst/>
          </a:prstGeom>
        </p:spPr>
      </p:pic>
      <p:sp>
        <p:nvSpPr>
          <p:cNvPr id="27" name="Text 20"/>
          <p:cNvSpPr txBox="1"/>
          <p:nvPr/>
        </p:nvSpPr>
        <p:spPr>
          <a:xfrm>
            <a:off x="7306056" y="2194560"/>
            <a:ext cx="1243584" cy="310896"/>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LlamaIndex RAG</a:t>
            </a:r>
            <a:endParaRPr lang="en-US" sz="1250" dirty="0"/>
          </a:p>
        </p:txBody>
      </p:sp>
      <p:sp>
        <p:nvSpPr>
          <p:cNvPr id="28" name="Text 21"/>
          <p:cNvSpPr txBox="1"/>
          <p:nvPr/>
        </p:nvSpPr>
        <p:spPr>
          <a:xfrm>
            <a:off x="7306056" y="2542032"/>
            <a:ext cx="1243584" cy="914400"/>
          </a:xfrm>
          <a:prstGeom prst="rect">
            <a:avLst/>
          </a:prstGeom>
          <a:noFill/>
          <a:ln/>
        </p:spPr>
        <p:txBody>
          <a:bodyPr wrap="square" lIns="0" tIns="0" rIns="0" bIns="0" rtlCol="0" anchor="t"/>
          <a:lstStyle/>
          <a:p>
            <a:pPr indent="0" marL="0">
              <a:buNone/>
            </a:pPr>
            <a:r>
              <a:rPr lang="en-US" sz="1050" dirty="0">
                <a:solidFill>
                  <a:srgbClr val="5B6B64"/>
                </a:solidFill>
                <a:latin typeface="Calibri" pitchFamily="34" charset="0"/>
                <a:ea typeface="Calibri" pitchFamily="34" charset="-122"/>
                <a:cs typeface="Calibri" pitchFamily="34" charset="-120"/>
              </a:rPr>
              <a:t>A first retrieval-augmented pipeline</a:t>
            </a:r>
            <a:endParaRPr lang="en-US" sz="1050" dirty="0"/>
          </a:p>
        </p:txBody>
      </p:sp>
      <p:sp>
        <p:nvSpPr>
          <p:cNvPr id="29" name="Shape 22"/>
          <p:cNvSpPr/>
          <p:nvPr/>
        </p:nvSpPr>
        <p:spPr>
          <a:xfrm>
            <a:off x="457200" y="3840480"/>
            <a:ext cx="8229600" cy="822960"/>
          </a:xfrm>
          <a:prstGeom prst="roundRect">
            <a:avLst>
              <a:gd name="adj" fmla="val 8889"/>
            </a:avLst>
          </a:prstGeom>
          <a:solidFill>
            <a:srgbClr val="0B3D2E"/>
          </a:solidFill>
          <a:ln w="6350">
            <a:solidFill>
              <a:srgbClr val="0B3D2E"/>
            </a:solidFill>
            <a:prstDash val="solid"/>
          </a:ln>
        </p:spPr>
      </p:sp>
      <p:sp>
        <p:nvSpPr>
          <p:cNvPr id="30" name="Text 23"/>
          <p:cNvSpPr txBox="1"/>
          <p:nvPr/>
        </p:nvSpPr>
        <p:spPr>
          <a:xfrm>
            <a:off x="731520" y="3840480"/>
            <a:ext cx="7680960" cy="8229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capstone brings these together — retrieval, an LLM, evaluation and a working app — on a real problem from my own domain.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BUSINESS CASE</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Why a regulatory answer bot</a:t>
            </a:r>
            <a:endParaRPr lang="en-US" sz="2800" dirty="0"/>
          </a:p>
        </p:txBody>
      </p:sp>
      <p:sp>
        <p:nvSpPr>
          <p:cNvPr id="4" name="Shape 2"/>
          <p:cNvSpPr/>
          <p:nvPr/>
        </p:nvSpPr>
        <p:spPr>
          <a:xfrm>
            <a:off x="457200" y="1280160"/>
            <a:ext cx="4023360" cy="2011680"/>
          </a:xfrm>
          <a:prstGeom prst="roundRect">
            <a:avLst>
              <a:gd name="adj" fmla="val 3636"/>
            </a:avLst>
          </a:prstGeom>
          <a:solidFill>
            <a:srgbClr val="E6F2EC"/>
          </a:solidFill>
          <a:ln w="6350">
            <a:solidFill>
              <a:srgbClr val="E6F2EC"/>
            </a:solidFill>
            <a:prstDash val="solid"/>
          </a:ln>
        </p:spPr>
      </p:sp>
      <p:sp>
        <p:nvSpPr>
          <p:cNvPr id="5" name="Text 3"/>
          <p:cNvSpPr txBox="1"/>
          <p:nvPr/>
        </p:nvSpPr>
        <p:spPr>
          <a:xfrm>
            <a:off x="685800" y="1444752"/>
            <a:ext cx="3657600" cy="320040"/>
          </a:xfrm>
          <a:prstGeom prst="rect">
            <a:avLst/>
          </a:prstGeom>
          <a:noFill/>
          <a:ln/>
        </p:spPr>
        <p:txBody>
          <a:bodyPr wrap="square" lIns="0" tIns="0" rIns="0" bIns="0" rtlCol="0" anchor="t"/>
          <a:lstStyle/>
          <a:p>
            <a:pPr indent="0" marL="0">
              <a:buNone/>
            </a:pPr>
            <a:r>
              <a:rPr lang="en-US" sz="1500" b="1" dirty="0">
                <a:solidFill>
                  <a:srgbClr val="0B3D2E"/>
                </a:solidFill>
                <a:latin typeface="Calibri" pitchFamily="34" charset="0"/>
                <a:ea typeface="Calibri" pitchFamily="34" charset="-122"/>
                <a:cs typeface="Calibri" pitchFamily="34" charset="-120"/>
              </a:rPr>
              <a:t>The brief</a:t>
            </a:r>
            <a:endParaRPr lang="en-US" sz="1500" dirty="0"/>
          </a:p>
        </p:txBody>
      </p:sp>
      <p:sp>
        <p:nvSpPr>
          <p:cNvPr id="6" name="Text 4"/>
          <p:cNvSpPr txBox="1"/>
          <p:nvPr/>
        </p:nvSpPr>
        <p:spPr>
          <a:xfrm>
            <a:off x="685800" y="1847088"/>
            <a:ext cx="3611880" cy="1325880"/>
          </a:xfrm>
          <a:prstGeom prst="rect">
            <a:avLst/>
          </a:prstGeom>
          <a:noFill/>
          <a:ln/>
        </p:spPr>
        <p:txBody>
          <a:bodyPr wrap="square" lIns="0" tIns="0" rIns="0" bIns="0" rtlCol="0" anchor="t"/>
          <a:lstStyle/>
          <a:p>
            <a:pPr indent="0" marL="0">
              <a:buNone/>
            </a:pPr>
            <a:r>
              <a:rPr lang="en-US" sz="1350" dirty="0">
                <a:solidFill>
                  <a:srgbClr val="1C2B25"/>
                </a:solidFill>
                <a:latin typeface="Calibri" pitchFamily="34" charset="0"/>
                <a:ea typeface="Calibri" pitchFamily="34" charset="-122"/>
                <a:cs typeface="Calibri" pitchFamily="34" charset="-120"/>
              </a:rPr>
              <a:t>An intelligent chatbot answering questions about Generative AI research papers, for a company like ArXiv. The brief allows your own dataset, with the same project steps.</a:t>
            </a:r>
            <a:endParaRPr lang="en-US" sz="1350" dirty="0"/>
          </a:p>
        </p:txBody>
      </p:sp>
      <p:sp>
        <p:nvSpPr>
          <p:cNvPr id="7" name="Shape 5"/>
          <p:cNvSpPr/>
          <p:nvPr/>
        </p:nvSpPr>
        <p:spPr>
          <a:xfrm>
            <a:off x="4663440" y="1280160"/>
            <a:ext cx="4023360" cy="2011680"/>
          </a:xfrm>
          <a:prstGeom prst="roundRect">
            <a:avLst>
              <a:gd name="adj" fmla="val 3636"/>
            </a:avLst>
          </a:prstGeom>
          <a:solidFill>
            <a:srgbClr val="0B3D2E"/>
          </a:solidFill>
          <a:ln w="6350">
            <a:solidFill>
              <a:srgbClr val="0B3D2E"/>
            </a:solidFill>
            <a:prstDash val="solid"/>
          </a:ln>
        </p:spPr>
      </p:sp>
      <p:sp>
        <p:nvSpPr>
          <p:cNvPr id="8" name="Text 6"/>
          <p:cNvSpPr txBox="1"/>
          <p:nvPr/>
        </p:nvSpPr>
        <p:spPr>
          <a:xfrm>
            <a:off x="4892040" y="1444752"/>
            <a:ext cx="3657600" cy="320040"/>
          </a:xfrm>
          <a:prstGeom prst="rect">
            <a:avLst/>
          </a:prstGeom>
          <a:noFill/>
          <a:ln/>
        </p:spPr>
        <p:txBody>
          <a:bodyPr wrap="square" lIns="0" tIns="0" rIns="0" bIns="0" rtlCol="0" anchor="t"/>
          <a:lstStyle/>
          <a:p>
            <a:pPr indent="0" marL="0">
              <a:buNone/>
            </a:pPr>
            <a:r>
              <a:rPr lang="en-US" sz="1500" b="1" dirty="0">
                <a:solidFill>
                  <a:srgbClr val="D99A1E"/>
                </a:solidFill>
                <a:latin typeface="Calibri" pitchFamily="34" charset="0"/>
                <a:ea typeface="Calibri" pitchFamily="34" charset="-122"/>
                <a:cs typeface="Calibri" pitchFamily="34" charset="-120"/>
              </a:rPr>
              <a:t>My version</a:t>
            </a:r>
            <a:endParaRPr lang="en-US" sz="1500" dirty="0"/>
          </a:p>
        </p:txBody>
      </p:sp>
      <p:sp>
        <p:nvSpPr>
          <p:cNvPr id="9" name="Text 7"/>
          <p:cNvSpPr txBox="1"/>
          <p:nvPr/>
        </p:nvSpPr>
        <p:spPr>
          <a:xfrm>
            <a:off x="4892040" y="1847088"/>
            <a:ext cx="361188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An answer bot over Nigerian banking regulation. Compliance answers are spread across four regulators and dozens of circulars — and a wrong or unsourced answer is worse than no answer.</a:t>
            </a:r>
            <a:endParaRPr lang="en-US" sz="1350" dirty="0"/>
          </a:p>
        </p:txBody>
      </p:sp>
      <p:sp>
        <p:nvSpPr>
          <p:cNvPr id="10" name="Shape 8"/>
          <p:cNvSpPr/>
          <p:nvPr/>
        </p:nvSpPr>
        <p:spPr>
          <a:xfrm>
            <a:off x="457200" y="3703320"/>
            <a:ext cx="502920" cy="502920"/>
          </a:xfrm>
          <a:prstGeom prst="ellipse">
            <a:avLst/>
          </a:prstGeom>
          <a:solidFill>
            <a:srgbClr val="1F7A55"/>
          </a:solidFill>
          <a:ln w="6350">
            <a:solidFill>
              <a:srgbClr val="1F7A55"/>
            </a:solidFill>
            <a:prstDash val="solid"/>
          </a:ln>
        </p:spPr>
      </p:sp>
      <p:pic>
        <p:nvPicPr>
          <p:cNvPr id="11" name="Image 0" descr="preencoded.png">    </p:cNvPr>
          <p:cNvPicPr>
            <a:picLocks noChangeAspect="1"/>
          </p:cNvPicPr>
          <p:nvPr/>
        </p:nvPicPr>
        <p:blipFill>
          <a:blip r:embed="rId1"/>
          <a:stretch>
            <a:fillRect/>
          </a:stretch>
        </p:blipFill>
        <p:spPr>
          <a:xfrm>
            <a:off x="570357" y="3816477"/>
            <a:ext cx="276606" cy="276606"/>
          </a:xfrm>
          <a:prstGeom prst="rect">
            <a:avLst/>
          </a:prstGeom>
        </p:spPr>
      </p:pic>
      <p:sp>
        <p:nvSpPr>
          <p:cNvPr id="12" name="Text 9"/>
          <p:cNvSpPr txBox="1"/>
          <p:nvPr/>
        </p:nvSpPr>
        <p:spPr>
          <a:xfrm>
            <a:off x="1097280" y="3685032"/>
            <a:ext cx="2011680" cy="292608"/>
          </a:xfrm>
          <a:prstGeom prst="rect">
            <a:avLst/>
          </a:prstGeom>
          <a:noFill/>
          <a:ln/>
        </p:spPr>
        <p:txBody>
          <a:bodyPr wrap="square" lIns="0" tIns="0" rIns="0" bIns="0" rtlCol="0" anchor="t"/>
          <a:lstStyle/>
          <a:p>
            <a:pPr indent="0" marL="0">
              <a:buNone/>
            </a:pPr>
            <a:r>
              <a:rPr lang="en-US" sz="1300" b="1" dirty="0">
                <a:solidFill>
                  <a:srgbClr val="0B3D2E"/>
                </a:solidFill>
                <a:latin typeface="Calibri" pitchFamily="34" charset="0"/>
                <a:ea typeface="Calibri" pitchFamily="34" charset="-122"/>
                <a:cs typeface="Calibri" pitchFamily="34" charset="-120"/>
              </a:rPr>
              <a:t>Only the documents</a:t>
            </a:r>
            <a:endParaRPr lang="en-US" sz="1300" dirty="0"/>
          </a:p>
        </p:txBody>
      </p:sp>
      <p:sp>
        <p:nvSpPr>
          <p:cNvPr id="13" name="Text 10"/>
          <p:cNvSpPr txBox="1"/>
          <p:nvPr/>
        </p:nvSpPr>
        <p:spPr>
          <a:xfrm>
            <a:off x="1097280" y="4005072"/>
            <a:ext cx="2011680" cy="68580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Answers come from retrieved passages, never outside knowledge</a:t>
            </a:r>
            <a:endParaRPr lang="en-US" sz="1100" dirty="0"/>
          </a:p>
        </p:txBody>
      </p:sp>
      <p:sp>
        <p:nvSpPr>
          <p:cNvPr id="14" name="Shape 11"/>
          <p:cNvSpPr/>
          <p:nvPr/>
        </p:nvSpPr>
        <p:spPr>
          <a:xfrm>
            <a:off x="3227832" y="3703320"/>
            <a:ext cx="502920" cy="502920"/>
          </a:xfrm>
          <a:prstGeom prst="ellipse">
            <a:avLst/>
          </a:prstGeom>
          <a:solidFill>
            <a:srgbClr val="1F7A55"/>
          </a:solidFill>
          <a:ln w="6350">
            <a:solidFill>
              <a:srgbClr val="1F7A55"/>
            </a:solidFill>
            <a:prstDash val="solid"/>
          </a:ln>
        </p:spPr>
      </p:sp>
      <p:pic>
        <p:nvPicPr>
          <p:cNvPr id="15" name="Image 1" descr="preencoded.png">    </p:cNvPr>
          <p:cNvPicPr>
            <a:picLocks noChangeAspect="1"/>
          </p:cNvPicPr>
          <p:nvPr/>
        </p:nvPicPr>
        <p:blipFill>
          <a:blip r:embed="rId2"/>
          <a:stretch>
            <a:fillRect/>
          </a:stretch>
        </p:blipFill>
        <p:spPr>
          <a:xfrm>
            <a:off x="3340989" y="3816477"/>
            <a:ext cx="276606" cy="276606"/>
          </a:xfrm>
          <a:prstGeom prst="rect">
            <a:avLst/>
          </a:prstGeom>
        </p:spPr>
      </p:pic>
      <p:sp>
        <p:nvSpPr>
          <p:cNvPr id="16" name="Text 12"/>
          <p:cNvSpPr txBox="1"/>
          <p:nvPr/>
        </p:nvSpPr>
        <p:spPr>
          <a:xfrm>
            <a:off x="3867912" y="3685032"/>
            <a:ext cx="2011680" cy="292608"/>
          </a:xfrm>
          <a:prstGeom prst="rect">
            <a:avLst/>
          </a:prstGeom>
          <a:noFill/>
          <a:ln/>
        </p:spPr>
        <p:txBody>
          <a:bodyPr wrap="square" lIns="0" tIns="0" rIns="0" bIns="0" rtlCol="0" anchor="t"/>
          <a:lstStyle/>
          <a:p>
            <a:pPr indent="0" marL="0">
              <a:buNone/>
            </a:pPr>
            <a:r>
              <a:rPr lang="en-US" sz="1300" b="1" dirty="0">
                <a:solidFill>
                  <a:srgbClr val="0B3D2E"/>
                </a:solidFill>
                <a:latin typeface="Calibri" pitchFamily="34" charset="0"/>
                <a:ea typeface="Calibri" pitchFamily="34" charset="-122"/>
                <a:cs typeface="Calibri" pitchFamily="34" charset="-120"/>
              </a:rPr>
              <a:t>Cite every claim</a:t>
            </a:r>
            <a:endParaRPr lang="en-US" sz="1300" dirty="0"/>
          </a:p>
        </p:txBody>
      </p:sp>
      <p:sp>
        <p:nvSpPr>
          <p:cNvPr id="17" name="Text 13"/>
          <p:cNvSpPr txBox="1"/>
          <p:nvPr/>
        </p:nvSpPr>
        <p:spPr>
          <a:xfrm>
            <a:off x="3867912" y="4005072"/>
            <a:ext cx="2011680" cy="68580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Each [n] links to a passage you can read</a:t>
            </a:r>
            <a:endParaRPr lang="en-US" sz="1100" dirty="0"/>
          </a:p>
        </p:txBody>
      </p:sp>
      <p:sp>
        <p:nvSpPr>
          <p:cNvPr id="18" name="Shape 14"/>
          <p:cNvSpPr/>
          <p:nvPr/>
        </p:nvSpPr>
        <p:spPr>
          <a:xfrm>
            <a:off x="5998464" y="3703320"/>
            <a:ext cx="502920" cy="502920"/>
          </a:xfrm>
          <a:prstGeom prst="ellipse">
            <a:avLst/>
          </a:prstGeom>
          <a:solidFill>
            <a:srgbClr val="1F7A55"/>
          </a:solidFill>
          <a:ln w="6350">
            <a:solidFill>
              <a:srgbClr val="1F7A55"/>
            </a:solidFill>
            <a:prstDash val="solid"/>
          </a:ln>
        </p:spPr>
      </p:sp>
      <p:pic>
        <p:nvPicPr>
          <p:cNvPr id="19" name="Image 2" descr="preencoded.png">    </p:cNvPr>
          <p:cNvPicPr>
            <a:picLocks noChangeAspect="1"/>
          </p:cNvPicPr>
          <p:nvPr/>
        </p:nvPicPr>
        <p:blipFill>
          <a:blip r:embed="rId3"/>
          <a:stretch>
            <a:fillRect/>
          </a:stretch>
        </p:blipFill>
        <p:spPr>
          <a:xfrm>
            <a:off x="6111621" y="3816477"/>
            <a:ext cx="276606" cy="276606"/>
          </a:xfrm>
          <a:prstGeom prst="rect">
            <a:avLst/>
          </a:prstGeom>
        </p:spPr>
      </p:pic>
      <p:sp>
        <p:nvSpPr>
          <p:cNvPr id="20" name="Text 15"/>
          <p:cNvSpPr txBox="1"/>
          <p:nvPr/>
        </p:nvSpPr>
        <p:spPr>
          <a:xfrm>
            <a:off x="6638544" y="3685032"/>
            <a:ext cx="2011680" cy="292608"/>
          </a:xfrm>
          <a:prstGeom prst="rect">
            <a:avLst/>
          </a:prstGeom>
          <a:noFill/>
          <a:ln/>
        </p:spPr>
        <p:txBody>
          <a:bodyPr wrap="square" lIns="0" tIns="0" rIns="0" bIns="0" rtlCol="0" anchor="t"/>
          <a:lstStyle/>
          <a:p>
            <a:pPr indent="0" marL="0">
              <a:buNone/>
            </a:pPr>
            <a:r>
              <a:rPr lang="en-US" sz="1300" b="1" dirty="0">
                <a:solidFill>
                  <a:srgbClr val="0B3D2E"/>
                </a:solidFill>
                <a:latin typeface="Calibri" pitchFamily="34" charset="0"/>
                <a:ea typeface="Calibri" pitchFamily="34" charset="-122"/>
                <a:cs typeface="Calibri" pitchFamily="34" charset="-120"/>
              </a:rPr>
              <a:t>Refuse, don't guess</a:t>
            </a:r>
            <a:endParaRPr lang="en-US" sz="1300" dirty="0"/>
          </a:p>
        </p:txBody>
      </p:sp>
      <p:sp>
        <p:nvSpPr>
          <p:cNvPr id="21" name="Text 16"/>
          <p:cNvSpPr txBox="1"/>
          <p:nvPr/>
        </p:nvSpPr>
        <p:spPr>
          <a:xfrm>
            <a:off x="6638544" y="4005072"/>
            <a:ext cx="2011680" cy="68580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A fixed refusal when the documents are silent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GOALS CHECKLIST</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Every goal, and where it stands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88920"/>
                <a:gridCol w="822960"/>
                <a:gridCol w="46177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Goal</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0B3D2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0B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was met</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0B3D2E"/>
                    </a:solidFill>
                  </a:tcPr>
                </a:tc>
              </a:tr>
              <a:tr h="274320">
                <a:tc gridSpan="3">
                  <a:txBody>
                    <a:bodyPr/>
                    <a:lstStyle/>
                    <a:p>
                      <a:pPr indent="0" marL="0">
                        <a:buNone/>
                      </a:pPr>
                      <a:r>
                        <a:rPr lang="en-US" sz="1050" b="1" dirty="0">
                          <a:solidFill>
                            <a:srgbClr val="0B3D2E"/>
                          </a:solidFill>
                          <a:latin typeface="Calibri" pitchFamily="34" charset="0"/>
                          <a:ea typeface="Calibri" pitchFamily="34" charset="-122"/>
                          <a:cs typeface="Calibri" pitchFamily="34" charset="-120"/>
                        </a:rPr>
                        <a:t>Compulsory goals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E6F2EC"/>
                    </a:solidFill>
                  </a:tcPr>
                </a:tc>
                <a:tc hMerge="1">
                  <a:tcPr/>
                </a:tc>
                <a:tc hMerge="1">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Get your own dataset</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24 documents scraped from CBN, SEC, NDIC and federal sources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Load and index in a vector database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3,828 chunks in ChromaDB, cosine similarity</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Experiment with embedding models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FBEBC8"/>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One open-source model; tested what to embed. No model comparison</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Experiment with retrieval strategies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Dense, BM25, hybrid RRF and a reranker, at k = 1 to 10</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Build the RAG pipeline with an LLM</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Google Gemini with a grounded, refusal-aware prompt</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Test on sample queries</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17-question evaluation set, each answer graded by hand</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Show the sources used (top 3)</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Every passage the answer cited, shown with its text</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gridSpan="3">
                  <a:txBody>
                    <a:bodyPr/>
                    <a:lstStyle/>
                    <a:p>
                      <a:pPr indent="0" marL="0">
                        <a:buNone/>
                      </a:pPr>
                      <a:r>
                        <a:rPr lang="en-US" sz="1050" b="1" dirty="0">
                          <a:solidFill>
                            <a:srgbClr val="0B3D2E"/>
                          </a:solidFill>
                          <a:latin typeface="Calibri" pitchFamily="34" charset="0"/>
                          <a:ea typeface="Calibri" pitchFamily="34" charset="-122"/>
                          <a:cs typeface="Calibri" pitchFamily="34" charset="-120"/>
                        </a:rPr>
                        <a:t>Stretch goals (at least 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E6F2EC"/>
                    </a:solidFill>
                  </a:tcPr>
                </a:tc>
                <a:tc hMerge="1">
                  <a:tcPr/>
                </a:tc>
                <a:tc hMerge="1">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Option 2: Streamlit app  (selected)</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11663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D6EEE0"/>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Chat interface with source panels and model fallback</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r h="274320">
                <a:tc>
                  <a:txBody>
                    <a:bodyPr/>
                    <a:lstStyle/>
                    <a:p>
                      <a:pPr indent="0" marL="0">
                        <a:buNone/>
                      </a:pPr>
                      <a:r>
                        <a:rPr lang="en-US" sz="1050" dirty="0">
                          <a:solidFill>
                            <a:srgbClr val="1C2B25"/>
                          </a:solidFill>
                          <a:latin typeface="Calibri" pitchFamily="34" charset="0"/>
                          <a:ea typeface="Calibri" pitchFamily="34" charset="-122"/>
                          <a:cs typeface="Calibri" pitchFamily="34" charset="-120"/>
                        </a:rPr>
                        <a:t>Option 1: multi-user conversational</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solidFill>
                      <a:srgbClr val="FBEBC8"/>
                    </a:solidFill>
                  </a:tcPr>
                </a:tc>
                <a:tc>
                  <a:txBody>
                    <a:bodyPr/>
                    <a:lstStyle/>
                    <a:p>
                      <a:pPr indent="0" marL="0">
                        <a:buNone/>
                      </a:pPr>
                      <a:r>
                        <a:rPr lang="en-US" sz="1050" dirty="0">
                          <a:solidFill>
                            <a:srgbClr val="5B6B64"/>
                          </a:solidFill>
                          <a:latin typeface="Calibri" pitchFamily="34" charset="0"/>
                          <a:ea typeface="Calibri" pitchFamily="34" charset="-122"/>
                          <a:cs typeface="Calibri" pitchFamily="34" charset="-120"/>
                        </a:rPr>
                        <a:t>Separate history per session; follow-ups not yet understood</a:t>
                      </a:r>
                      <a:endParaRPr lang="en-US" sz="1050" dirty="0">
                        <a:latin typeface="Calibri" charset="0"/>
                        <a:ea typeface="Calibri" charset="0"/>
                        <a:cs typeface="Calibri" charset="0"/>
                      </a:endParaRPr>
                    </a:p>
                  </a:txBody>
                  <a:tcPr marL="54864" marR="54864" marT="54864" marB="54864" anchor="ctr">
                    <a:lnL w="6350" cap="flat" cmpd="sng" algn="ctr">
                      <a:solidFill>
                        <a:srgbClr val="C9DDD2"/>
                      </a:solidFill>
                      <a:prstDash val="solid"/>
                      <a:round/>
                      <a:headEnd type="none" w="med" len="med"/>
                      <a:tailEnd type="none" w="med" len="med"/>
                    </a:lnL>
                    <a:lnR w="6350" cap="flat" cmpd="sng" algn="ctr">
                      <a:solidFill>
                        <a:srgbClr val="C9DDD2"/>
                      </a:solidFill>
                      <a:prstDash val="solid"/>
                      <a:round/>
                      <a:headEnd type="none" w="med" len="med"/>
                      <a:tailEnd type="none" w="med" len="med"/>
                    </a:lnR>
                    <a:lnT w="6350" cap="flat" cmpd="sng" algn="ctr">
                      <a:solidFill>
                        <a:srgbClr val="C9DDD2"/>
                      </a:solidFill>
                      <a:prstDash val="solid"/>
                      <a:round/>
                      <a:headEnd type="none" w="med" len="med"/>
                      <a:tailEnd type="none" w="med" len="med"/>
                    </a:lnT>
                    <a:lnB w="6350" cap="flat" cmpd="sng" algn="ctr">
                      <a:solidFill>
                        <a:srgbClr val="C9DDD2"/>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COMPULSORY  ·  DATASET AND INDEXING</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24 documents from four regulators</a:t>
            </a:r>
            <a:endParaRPr lang="en-US" sz="2800" dirty="0"/>
          </a:p>
        </p:txBody>
      </p:sp>
      <p:sp>
        <p:nvSpPr>
          <p:cNvPr id="4" name="Shape 2"/>
          <p:cNvSpPr/>
          <p:nvPr/>
        </p:nvSpPr>
        <p:spPr>
          <a:xfrm>
            <a:off x="457200" y="1234440"/>
            <a:ext cx="1426464" cy="868680"/>
          </a:xfrm>
          <a:prstGeom prst="roundRect">
            <a:avLst>
              <a:gd name="adj" fmla="val 8421"/>
            </a:avLst>
          </a:prstGeom>
          <a:solidFill>
            <a:srgbClr val="E6F2EC"/>
          </a:solidFill>
          <a:ln w="6350">
            <a:solidFill>
              <a:srgbClr val="E6F2EC"/>
            </a:solidFill>
            <a:prstDash val="solid"/>
          </a:ln>
        </p:spPr>
      </p:sp>
      <p:pic>
        <p:nvPicPr>
          <p:cNvPr id="5" name="Image 0" descr="preencoded.png">    </p:cNvPr>
          <p:cNvPicPr>
            <a:picLocks noChangeAspect="1"/>
          </p:cNvPicPr>
          <p:nvPr/>
        </p:nvPicPr>
        <p:blipFill>
          <a:blip r:embed="rId1"/>
          <a:stretch>
            <a:fillRect/>
          </a:stretch>
        </p:blipFill>
        <p:spPr>
          <a:xfrm>
            <a:off x="585216" y="1362456"/>
            <a:ext cx="256032" cy="256032"/>
          </a:xfrm>
          <a:prstGeom prst="rect">
            <a:avLst/>
          </a:prstGeom>
        </p:spPr>
      </p:pic>
      <p:sp>
        <p:nvSpPr>
          <p:cNvPr id="6" name="Text 3"/>
          <p:cNvSpPr txBox="1"/>
          <p:nvPr/>
        </p:nvSpPr>
        <p:spPr>
          <a:xfrm>
            <a:off x="932688" y="1344168"/>
            <a:ext cx="868680" cy="292608"/>
          </a:xfrm>
          <a:prstGeom prst="rect">
            <a:avLst/>
          </a:prstGeom>
          <a:noFill/>
          <a:ln/>
        </p:spPr>
        <p:txBody>
          <a:bodyPr wrap="square" lIns="0" tIns="0" rIns="0" bIns="0" rtlCol="0" anchor="ctr"/>
          <a:lstStyle/>
          <a:p>
            <a:pPr indent="0" marL="0">
              <a:buNone/>
            </a:pPr>
            <a:r>
              <a:rPr lang="en-US" sz="1250" b="1" dirty="0">
                <a:solidFill>
                  <a:srgbClr val="0B3D2E"/>
                </a:solidFill>
                <a:latin typeface="Calibri" pitchFamily="34" charset="0"/>
                <a:ea typeface="Calibri" pitchFamily="34" charset="-122"/>
                <a:cs typeface="Calibri" pitchFamily="34" charset="-120"/>
              </a:rPr>
              <a:t>Scrape</a:t>
            </a:r>
            <a:endParaRPr lang="en-US" sz="1250" dirty="0"/>
          </a:p>
        </p:txBody>
      </p:sp>
      <p:sp>
        <p:nvSpPr>
          <p:cNvPr id="7" name="Text 4"/>
          <p:cNvSpPr txBox="1"/>
          <p:nvPr/>
        </p:nvSpPr>
        <p:spPr>
          <a:xfrm>
            <a:off x="585216" y="1709928"/>
            <a:ext cx="1207008" cy="320040"/>
          </a:xfrm>
          <a:prstGeom prst="rect">
            <a:avLst/>
          </a:prstGeom>
          <a:noFill/>
          <a:ln/>
        </p:spPr>
        <p:txBody>
          <a:bodyPr wrap="square" lIns="0" tIns="0" rIns="0" bIns="0" rtlCol="0" anchor="t"/>
          <a:lstStyle/>
          <a:p>
            <a:pPr indent="0" marL="0">
              <a:buNone/>
            </a:pPr>
            <a:r>
              <a:rPr lang="en-US" sz="1000" dirty="0">
                <a:solidFill>
                  <a:srgbClr val="5B6B64"/>
                </a:solidFill>
                <a:latin typeface="Calibri" pitchFamily="34" charset="0"/>
                <a:ea typeface="Calibri" pitchFamily="34" charset="-122"/>
                <a:cs typeface="Calibri" pitchFamily="34" charset="-120"/>
              </a:rPr>
              <a:t>Regulator websites</a:t>
            </a:r>
            <a:endParaRPr lang="en-US" sz="1000" dirty="0"/>
          </a:p>
        </p:txBody>
      </p:sp>
      <p:sp>
        <p:nvSpPr>
          <p:cNvPr id="8" name="Shape 5"/>
          <p:cNvSpPr/>
          <p:nvPr/>
        </p:nvSpPr>
        <p:spPr>
          <a:xfrm>
            <a:off x="1920240" y="1668780"/>
            <a:ext cx="201168" cy="0"/>
          </a:xfrm>
          <a:prstGeom prst="line">
            <a:avLst/>
          </a:prstGeom>
          <a:noFill/>
          <a:ln w="19050">
            <a:solidFill>
              <a:srgbClr val="1F7A55"/>
            </a:solidFill>
            <a:prstDash val="solid"/>
            <a:tailEnd type="triangle"/>
          </a:ln>
        </p:spPr>
      </p:sp>
      <p:sp>
        <p:nvSpPr>
          <p:cNvPr id="9" name="Shape 6"/>
          <p:cNvSpPr/>
          <p:nvPr/>
        </p:nvSpPr>
        <p:spPr>
          <a:xfrm>
            <a:off x="2157984" y="1234440"/>
            <a:ext cx="1426464" cy="868680"/>
          </a:xfrm>
          <a:prstGeom prst="roundRect">
            <a:avLst>
              <a:gd name="adj" fmla="val 8421"/>
            </a:avLst>
          </a:prstGeom>
          <a:solidFill>
            <a:srgbClr val="E6F2EC"/>
          </a:solidFill>
          <a:ln w="6350">
            <a:solidFill>
              <a:srgbClr val="E6F2EC"/>
            </a:solidFill>
            <a:prstDash val="solid"/>
          </a:ln>
        </p:spPr>
      </p:sp>
      <p:pic>
        <p:nvPicPr>
          <p:cNvPr id="10" name="Image 1" descr="preencoded.png">    </p:cNvPr>
          <p:cNvPicPr>
            <a:picLocks noChangeAspect="1"/>
          </p:cNvPicPr>
          <p:nvPr/>
        </p:nvPicPr>
        <p:blipFill>
          <a:blip r:embed="rId2"/>
          <a:stretch>
            <a:fillRect/>
          </a:stretch>
        </p:blipFill>
        <p:spPr>
          <a:xfrm>
            <a:off x="2286000" y="1362456"/>
            <a:ext cx="256032" cy="256032"/>
          </a:xfrm>
          <a:prstGeom prst="rect">
            <a:avLst/>
          </a:prstGeom>
        </p:spPr>
      </p:pic>
      <p:sp>
        <p:nvSpPr>
          <p:cNvPr id="11" name="Text 7"/>
          <p:cNvSpPr txBox="1"/>
          <p:nvPr/>
        </p:nvSpPr>
        <p:spPr>
          <a:xfrm>
            <a:off x="2633472" y="1344168"/>
            <a:ext cx="868680" cy="292608"/>
          </a:xfrm>
          <a:prstGeom prst="rect">
            <a:avLst/>
          </a:prstGeom>
          <a:noFill/>
          <a:ln/>
        </p:spPr>
        <p:txBody>
          <a:bodyPr wrap="square" lIns="0" tIns="0" rIns="0" bIns="0" rtlCol="0" anchor="ctr"/>
          <a:lstStyle/>
          <a:p>
            <a:pPr indent="0" marL="0">
              <a:buNone/>
            </a:pPr>
            <a:r>
              <a:rPr lang="en-US" sz="1250" b="1" dirty="0">
                <a:solidFill>
                  <a:srgbClr val="0B3D2E"/>
                </a:solidFill>
                <a:latin typeface="Calibri" pitchFamily="34" charset="0"/>
                <a:ea typeface="Calibri" pitchFamily="34" charset="-122"/>
                <a:cs typeface="Calibri" pitchFamily="34" charset="-120"/>
              </a:rPr>
              <a:t>Extract</a:t>
            </a:r>
            <a:endParaRPr lang="en-US" sz="1250" dirty="0"/>
          </a:p>
        </p:txBody>
      </p:sp>
      <p:sp>
        <p:nvSpPr>
          <p:cNvPr id="12" name="Text 8"/>
          <p:cNvSpPr txBox="1"/>
          <p:nvPr/>
        </p:nvSpPr>
        <p:spPr>
          <a:xfrm>
            <a:off x="2286000" y="1709928"/>
            <a:ext cx="1207008" cy="320040"/>
          </a:xfrm>
          <a:prstGeom prst="rect">
            <a:avLst/>
          </a:prstGeom>
          <a:noFill/>
          <a:ln/>
        </p:spPr>
        <p:txBody>
          <a:bodyPr wrap="square" lIns="0" tIns="0" rIns="0" bIns="0" rtlCol="0" anchor="t"/>
          <a:lstStyle/>
          <a:p>
            <a:pPr indent="0" marL="0">
              <a:buNone/>
            </a:pPr>
            <a:r>
              <a:rPr lang="en-US" sz="1000" dirty="0">
                <a:solidFill>
                  <a:srgbClr val="5B6B64"/>
                </a:solidFill>
                <a:latin typeface="Calibri" pitchFamily="34" charset="0"/>
                <a:ea typeface="Calibri" pitchFamily="34" charset="-122"/>
                <a:cs typeface="Calibri" pitchFamily="34" charset="-120"/>
              </a:rPr>
              <a:t>Text layer per page</a:t>
            </a:r>
            <a:endParaRPr lang="en-US" sz="1000" dirty="0"/>
          </a:p>
        </p:txBody>
      </p:sp>
      <p:sp>
        <p:nvSpPr>
          <p:cNvPr id="13" name="Shape 9"/>
          <p:cNvSpPr/>
          <p:nvPr/>
        </p:nvSpPr>
        <p:spPr>
          <a:xfrm>
            <a:off x="3621024" y="1668780"/>
            <a:ext cx="201168" cy="0"/>
          </a:xfrm>
          <a:prstGeom prst="line">
            <a:avLst/>
          </a:prstGeom>
          <a:noFill/>
          <a:ln w="19050">
            <a:solidFill>
              <a:srgbClr val="1F7A55"/>
            </a:solidFill>
            <a:prstDash val="solid"/>
            <a:tailEnd type="triangle"/>
          </a:ln>
        </p:spPr>
      </p:sp>
      <p:sp>
        <p:nvSpPr>
          <p:cNvPr id="14" name="Shape 10"/>
          <p:cNvSpPr/>
          <p:nvPr/>
        </p:nvSpPr>
        <p:spPr>
          <a:xfrm>
            <a:off x="3858768" y="1234440"/>
            <a:ext cx="1426464" cy="868680"/>
          </a:xfrm>
          <a:prstGeom prst="roundRect">
            <a:avLst>
              <a:gd name="adj" fmla="val 8421"/>
            </a:avLst>
          </a:prstGeom>
          <a:solidFill>
            <a:srgbClr val="E6F2EC"/>
          </a:solidFill>
          <a:ln w="6350">
            <a:solidFill>
              <a:srgbClr val="E6F2EC"/>
            </a:solidFill>
            <a:prstDash val="solid"/>
          </a:ln>
        </p:spPr>
      </p:sp>
      <p:pic>
        <p:nvPicPr>
          <p:cNvPr id="15" name="Image 2" descr="preencoded.png">    </p:cNvPr>
          <p:cNvPicPr>
            <a:picLocks noChangeAspect="1"/>
          </p:cNvPicPr>
          <p:nvPr/>
        </p:nvPicPr>
        <p:blipFill>
          <a:blip r:embed="rId3"/>
          <a:stretch>
            <a:fillRect/>
          </a:stretch>
        </p:blipFill>
        <p:spPr>
          <a:xfrm>
            <a:off x="3986784" y="1362456"/>
            <a:ext cx="256032" cy="256032"/>
          </a:xfrm>
          <a:prstGeom prst="rect">
            <a:avLst/>
          </a:prstGeom>
        </p:spPr>
      </p:pic>
      <p:sp>
        <p:nvSpPr>
          <p:cNvPr id="16" name="Text 11"/>
          <p:cNvSpPr txBox="1"/>
          <p:nvPr/>
        </p:nvSpPr>
        <p:spPr>
          <a:xfrm>
            <a:off x="4334256" y="1344168"/>
            <a:ext cx="868680" cy="292608"/>
          </a:xfrm>
          <a:prstGeom prst="rect">
            <a:avLst/>
          </a:prstGeom>
          <a:noFill/>
          <a:ln/>
        </p:spPr>
        <p:txBody>
          <a:bodyPr wrap="square" lIns="0" tIns="0" rIns="0" bIns="0" rtlCol="0" anchor="ctr"/>
          <a:lstStyle/>
          <a:p>
            <a:pPr indent="0" marL="0">
              <a:buNone/>
            </a:pPr>
            <a:r>
              <a:rPr lang="en-US" sz="1250" b="1" dirty="0">
                <a:solidFill>
                  <a:srgbClr val="0B3D2E"/>
                </a:solidFill>
                <a:latin typeface="Calibri" pitchFamily="34" charset="0"/>
                <a:ea typeface="Calibri" pitchFamily="34" charset="-122"/>
                <a:cs typeface="Calibri" pitchFamily="34" charset="-120"/>
              </a:rPr>
              <a:t>OCR</a:t>
            </a:r>
            <a:endParaRPr lang="en-US" sz="1250" dirty="0"/>
          </a:p>
        </p:txBody>
      </p:sp>
      <p:sp>
        <p:nvSpPr>
          <p:cNvPr id="17" name="Text 12"/>
          <p:cNvSpPr txBox="1"/>
          <p:nvPr/>
        </p:nvSpPr>
        <p:spPr>
          <a:xfrm>
            <a:off x="3986784" y="1709928"/>
            <a:ext cx="1207008" cy="320040"/>
          </a:xfrm>
          <a:prstGeom prst="rect">
            <a:avLst/>
          </a:prstGeom>
          <a:noFill/>
          <a:ln/>
        </p:spPr>
        <p:txBody>
          <a:bodyPr wrap="square" lIns="0" tIns="0" rIns="0" bIns="0" rtlCol="0" anchor="t"/>
          <a:lstStyle/>
          <a:p>
            <a:pPr indent="0" marL="0">
              <a:buNone/>
            </a:pPr>
            <a:r>
              <a:rPr lang="en-US" sz="1000" dirty="0">
                <a:solidFill>
                  <a:srgbClr val="5B6B64"/>
                </a:solidFill>
                <a:latin typeface="Calibri" pitchFamily="34" charset="0"/>
                <a:ea typeface="Calibri" pitchFamily="34" charset="-122"/>
                <a:cs typeface="Calibri" pitchFamily="34" charset="-120"/>
              </a:rPr>
              <a:t>Tesseract for 7 scans</a:t>
            </a:r>
            <a:endParaRPr lang="en-US" sz="1000" dirty="0"/>
          </a:p>
        </p:txBody>
      </p:sp>
      <p:sp>
        <p:nvSpPr>
          <p:cNvPr id="18" name="Shape 13"/>
          <p:cNvSpPr/>
          <p:nvPr/>
        </p:nvSpPr>
        <p:spPr>
          <a:xfrm>
            <a:off x="5321808" y="1668780"/>
            <a:ext cx="201168" cy="0"/>
          </a:xfrm>
          <a:prstGeom prst="line">
            <a:avLst/>
          </a:prstGeom>
          <a:noFill/>
          <a:ln w="19050">
            <a:solidFill>
              <a:srgbClr val="1F7A55"/>
            </a:solidFill>
            <a:prstDash val="solid"/>
            <a:tailEnd type="triangle"/>
          </a:ln>
        </p:spPr>
      </p:sp>
      <p:sp>
        <p:nvSpPr>
          <p:cNvPr id="19" name="Shape 14"/>
          <p:cNvSpPr/>
          <p:nvPr/>
        </p:nvSpPr>
        <p:spPr>
          <a:xfrm>
            <a:off x="5559552" y="1234440"/>
            <a:ext cx="1426464" cy="868680"/>
          </a:xfrm>
          <a:prstGeom prst="roundRect">
            <a:avLst>
              <a:gd name="adj" fmla="val 8421"/>
            </a:avLst>
          </a:prstGeom>
          <a:solidFill>
            <a:srgbClr val="E6F2EC"/>
          </a:solidFill>
          <a:ln w="6350">
            <a:solidFill>
              <a:srgbClr val="E6F2EC"/>
            </a:solidFill>
            <a:prstDash val="solid"/>
          </a:ln>
        </p:spPr>
      </p:sp>
      <p:pic>
        <p:nvPicPr>
          <p:cNvPr id="20" name="Image 3" descr="preencoded.png">    </p:cNvPr>
          <p:cNvPicPr>
            <a:picLocks noChangeAspect="1"/>
          </p:cNvPicPr>
          <p:nvPr/>
        </p:nvPicPr>
        <p:blipFill>
          <a:blip r:embed="rId4"/>
          <a:stretch>
            <a:fillRect/>
          </a:stretch>
        </p:blipFill>
        <p:spPr>
          <a:xfrm>
            <a:off x="5687568" y="1362456"/>
            <a:ext cx="256032" cy="256032"/>
          </a:xfrm>
          <a:prstGeom prst="rect">
            <a:avLst/>
          </a:prstGeom>
        </p:spPr>
      </p:pic>
      <p:sp>
        <p:nvSpPr>
          <p:cNvPr id="21" name="Text 15"/>
          <p:cNvSpPr txBox="1"/>
          <p:nvPr/>
        </p:nvSpPr>
        <p:spPr>
          <a:xfrm>
            <a:off x="6035040" y="1344168"/>
            <a:ext cx="868680" cy="292608"/>
          </a:xfrm>
          <a:prstGeom prst="rect">
            <a:avLst/>
          </a:prstGeom>
          <a:noFill/>
          <a:ln/>
        </p:spPr>
        <p:txBody>
          <a:bodyPr wrap="square" lIns="0" tIns="0" rIns="0" bIns="0" rtlCol="0" anchor="ctr"/>
          <a:lstStyle/>
          <a:p>
            <a:pPr indent="0" marL="0">
              <a:buNone/>
            </a:pPr>
            <a:r>
              <a:rPr lang="en-US" sz="1250" b="1" dirty="0">
                <a:solidFill>
                  <a:srgbClr val="0B3D2E"/>
                </a:solidFill>
                <a:latin typeface="Calibri" pitchFamily="34" charset="0"/>
                <a:ea typeface="Calibri" pitchFamily="34" charset="-122"/>
                <a:cs typeface="Calibri" pitchFamily="34" charset="-120"/>
              </a:rPr>
              <a:t>Chunk</a:t>
            </a:r>
            <a:endParaRPr lang="en-US" sz="1250" dirty="0"/>
          </a:p>
        </p:txBody>
      </p:sp>
      <p:sp>
        <p:nvSpPr>
          <p:cNvPr id="22" name="Text 16"/>
          <p:cNvSpPr txBox="1"/>
          <p:nvPr/>
        </p:nvSpPr>
        <p:spPr>
          <a:xfrm>
            <a:off x="5687568" y="1709928"/>
            <a:ext cx="1207008" cy="320040"/>
          </a:xfrm>
          <a:prstGeom prst="rect">
            <a:avLst/>
          </a:prstGeom>
          <a:noFill/>
          <a:ln/>
        </p:spPr>
        <p:txBody>
          <a:bodyPr wrap="square" lIns="0" tIns="0" rIns="0" bIns="0" rtlCol="0" anchor="t"/>
          <a:lstStyle/>
          <a:p>
            <a:pPr indent="0" marL="0">
              <a:buNone/>
            </a:pPr>
            <a:r>
              <a:rPr lang="en-US" sz="1000" dirty="0">
                <a:solidFill>
                  <a:srgbClr val="5B6B64"/>
                </a:solidFill>
                <a:latin typeface="Calibri" pitchFamily="34" charset="0"/>
                <a:ea typeface="Calibri" pitchFamily="34" charset="-122"/>
                <a:cs typeface="Calibri" pitchFamily="34" charset="-120"/>
              </a:rPr>
              <a:t>800 chars, 150 overlap</a:t>
            </a:r>
            <a:endParaRPr lang="en-US" sz="1000" dirty="0"/>
          </a:p>
        </p:txBody>
      </p:sp>
      <p:sp>
        <p:nvSpPr>
          <p:cNvPr id="23" name="Shape 17"/>
          <p:cNvSpPr/>
          <p:nvPr/>
        </p:nvSpPr>
        <p:spPr>
          <a:xfrm>
            <a:off x="7022592" y="1668780"/>
            <a:ext cx="201168" cy="0"/>
          </a:xfrm>
          <a:prstGeom prst="line">
            <a:avLst/>
          </a:prstGeom>
          <a:noFill/>
          <a:ln w="19050">
            <a:solidFill>
              <a:srgbClr val="1F7A55"/>
            </a:solidFill>
            <a:prstDash val="solid"/>
            <a:tailEnd type="triangle"/>
          </a:ln>
        </p:spPr>
      </p:sp>
      <p:sp>
        <p:nvSpPr>
          <p:cNvPr id="24" name="Shape 18"/>
          <p:cNvSpPr/>
          <p:nvPr/>
        </p:nvSpPr>
        <p:spPr>
          <a:xfrm>
            <a:off x="7260336" y="1234440"/>
            <a:ext cx="1426464" cy="868680"/>
          </a:xfrm>
          <a:prstGeom prst="roundRect">
            <a:avLst>
              <a:gd name="adj" fmla="val 8421"/>
            </a:avLst>
          </a:prstGeom>
          <a:solidFill>
            <a:srgbClr val="E6F2EC"/>
          </a:solidFill>
          <a:ln w="6350">
            <a:solidFill>
              <a:srgbClr val="E6F2EC"/>
            </a:solidFill>
            <a:prstDash val="solid"/>
          </a:ln>
        </p:spPr>
      </p:sp>
      <p:pic>
        <p:nvPicPr>
          <p:cNvPr id="25" name="Image 4" descr="preencoded.png">    </p:cNvPr>
          <p:cNvPicPr>
            <a:picLocks noChangeAspect="1"/>
          </p:cNvPicPr>
          <p:nvPr/>
        </p:nvPicPr>
        <p:blipFill>
          <a:blip r:embed="rId5"/>
          <a:stretch>
            <a:fillRect/>
          </a:stretch>
        </p:blipFill>
        <p:spPr>
          <a:xfrm>
            <a:off x="7388352" y="1362456"/>
            <a:ext cx="256032" cy="256032"/>
          </a:xfrm>
          <a:prstGeom prst="rect">
            <a:avLst/>
          </a:prstGeom>
        </p:spPr>
      </p:pic>
      <p:sp>
        <p:nvSpPr>
          <p:cNvPr id="26" name="Text 19"/>
          <p:cNvSpPr txBox="1"/>
          <p:nvPr/>
        </p:nvSpPr>
        <p:spPr>
          <a:xfrm>
            <a:off x="7735824" y="1344168"/>
            <a:ext cx="868680" cy="292608"/>
          </a:xfrm>
          <a:prstGeom prst="rect">
            <a:avLst/>
          </a:prstGeom>
          <a:noFill/>
          <a:ln/>
        </p:spPr>
        <p:txBody>
          <a:bodyPr wrap="square" lIns="0" tIns="0" rIns="0" bIns="0" rtlCol="0" anchor="ctr"/>
          <a:lstStyle/>
          <a:p>
            <a:pPr indent="0" marL="0">
              <a:buNone/>
            </a:pPr>
            <a:r>
              <a:rPr lang="en-US" sz="1250" b="1" dirty="0">
                <a:solidFill>
                  <a:srgbClr val="0B3D2E"/>
                </a:solidFill>
                <a:latin typeface="Calibri" pitchFamily="34" charset="0"/>
                <a:ea typeface="Calibri" pitchFamily="34" charset="-122"/>
                <a:cs typeface="Calibri" pitchFamily="34" charset="-120"/>
              </a:rPr>
              <a:t>Index</a:t>
            </a:r>
            <a:endParaRPr lang="en-US" sz="1250" dirty="0"/>
          </a:p>
        </p:txBody>
      </p:sp>
      <p:sp>
        <p:nvSpPr>
          <p:cNvPr id="27" name="Text 20"/>
          <p:cNvSpPr txBox="1"/>
          <p:nvPr/>
        </p:nvSpPr>
        <p:spPr>
          <a:xfrm>
            <a:off x="7388352" y="1709928"/>
            <a:ext cx="1207008" cy="320040"/>
          </a:xfrm>
          <a:prstGeom prst="rect">
            <a:avLst/>
          </a:prstGeom>
          <a:noFill/>
          <a:ln/>
        </p:spPr>
        <p:txBody>
          <a:bodyPr wrap="square" lIns="0" tIns="0" rIns="0" bIns="0" rtlCol="0" anchor="t"/>
          <a:lstStyle/>
          <a:p>
            <a:pPr indent="0" marL="0">
              <a:buNone/>
            </a:pPr>
            <a:r>
              <a:rPr lang="en-US" sz="1000" dirty="0">
                <a:solidFill>
                  <a:srgbClr val="5B6B64"/>
                </a:solidFill>
                <a:latin typeface="Calibri" pitchFamily="34" charset="0"/>
                <a:ea typeface="Calibri" pitchFamily="34" charset="-122"/>
                <a:cs typeface="Calibri" pitchFamily="34" charset="-120"/>
              </a:rPr>
              <a:t>Embed into Chroma</a:t>
            </a:r>
            <a:endParaRPr lang="en-US" sz="1000" dirty="0"/>
          </a:p>
        </p:txBody>
      </p:sp>
      <p:sp>
        <p:nvSpPr>
          <p:cNvPr id="28" name="Text 21"/>
          <p:cNvSpPr txBox="1"/>
          <p:nvPr/>
        </p:nvSpPr>
        <p:spPr>
          <a:xfrm>
            <a:off x="457200" y="2331720"/>
            <a:ext cx="1325880" cy="640080"/>
          </a:xfrm>
          <a:prstGeom prst="rect">
            <a:avLst/>
          </a:prstGeom>
          <a:noFill/>
          <a:ln/>
        </p:spPr>
        <p:txBody>
          <a:bodyPr wrap="square" lIns="0" tIns="0" rIns="0" bIns="0" rtlCol="0" anchor="ctr"/>
          <a:lstStyle/>
          <a:p>
            <a:pPr algn="r" indent="0" marL="0">
              <a:buNone/>
            </a:pPr>
            <a:r>
              <a:rPr lang="en-US" sz="3000" b="1" dirty="0">
                <a:solidFill>
                  <a:srgbClr val="1F7A55"/>
                </a:solidFill>
                <a:latin typeface="Cambria" pitchFamily="34" charset="0"/>
                <a:ea typeface="Cambria" pitchFamily="34" charset="-122"/>
                <a:cs typeface="Cambria" pitchFamily="34" charset="-120"/>
              </a:rPr>
              <a:t>24</a:t>
            </a:r>
            <a:endParaRPr lang="en-US" sz="3000" dirty="0"/>
          </a:p>
        </p:txBody>
      </p:sp>
      <p:sp>
        <p:nvSpPr>
          <p:cNvPr id="29" name="Text 22"/>
          <p:cNvSpPr txBox="1"/>
          <p:nvPr/>
        </p:nvSpPr>
        <p:spPr>
          <a:xfrm>
            <a:off x="1965960" y="2331720"/>
            <a:ext cx="2240280" cy="640080"/>
          </a:xfrm>
          <a:prstGeom prst="rect">
            <a:avLst/>
          </a:prstGeom>
          <a:noFill/>
          <a:ln/>
        </p:spPr>
        <p:txBody>
          <a:bodyPr wrap="square" lIns="0" tIns="0" rIns="0" bIns="0" rtlCol="0" anchor="ctr"/>
          <a:lstStyle/>
          <a:p>
            <a:pPr indent="0" marL="0">
              <a:buNone/>
            </a:pPr>
            <a:r>
              <a:rPr lang="en-US" sz="1150" dirty="0">
                <a:solidFill>
                  <a:srgbClr val="1C2B25"/>
                </a:solidFill>
                <a:latin typeface="Calibri" pitchFamily="34" charset="0"/>
                <a:ea typeface="Calibri" pitchFamily="34" charset="-122"/>
                <a:cs typeface="Calibri" pitchFamily="34" charset="-120"/>
              </a:rPr>
              <a:t>documents from CBN, SEC, NDIC and federal law</a:t>
            </a:r>
            <a:endParaRPr lang="en-US" sz="1150" dirty="0"/>
          </a:p>
        </p:txBody>
      </p:sp>
      <p:sp>
        <p:nvSpPr>
          <p:cNvPr id="30" name="Text 23"/>
          <p:cNvSpPr txBox="1"/>
          <p:nvPr/>
        </p:nvSpPr>
        <p:spPr>
          <a:xfrm>
            <a:off x="457200" y="3108960"/>
            <a:ext cx="1325880" cy="640080"/>
          </a:xfrm>
          <a:prstGeom prst="rect">
            <a:avLst/>
          </a:prstGeom>
          <a:noFill/>
          <a:ln/>
        </p:spPr>
        <p:txBody>
          <a:bodyPr wrap="square" lIns="0" tIns="0" rIns="0" bIns="0" rtlCol="0" anchor="ctr"/>
          <a:lstStyle/>
          <a:p>
            <a:pPr algn="r" indent="0" marL="0">
              <a:buNone/>
            </a:pPr>
            <a:r>
              <a:rPr lang="en-US" sz="3000" b="1" dirty="0">
                <a:solidFill>
                  <a:srgbClr val="1F7A55"/>
                </a:solidFill>
                <a:latin typeface="Cambria" pitchFamily="34" charset="0"/>
                <a:ea typeface="Cambria" pitchFamily="34" charset="-122"/>
                <a:cs typeface="Cambria" pitchFamily="34" charset="-120"/>
              </a:rPr>
              <a:t>3,828</a:t>
            </a:r>
            <a:endParaRPr lang="en-US" sz="3000" dirty="0"/>
          </a:p>
        </p:txBody>
      </p:sp>
      <p:sp>
        <p:nvSpPr>
          <p:cNvPr id="31" name="Text 24"/>
          <p:cNvSpPr txBox="1"/>
          <p:nvPr/>
        </p:nvSpPr>
        <p:spPr>
          <a:xfrm>
            <a:off x="1965960" y="3108960"/>
            <a:ext cx="2240280" cy="640080"/>
          </a:xfrm>
          <a:prstGeom prst="rect">
            <a:avLst/>
          </a:prstGeom>
          <a:noFill/>
          <a:ln/>
        </p:spPr>
        <p:txBody>
          <a:bodyPr wrap="square" lIns="0" tIns="0" rIns="0" bIns="0" rtlCol="0" anchor="ctr"/>
          <a:lstStyle/>
          <a:p>
            <a:pPr indent="0" marL="0">
              <a:buNone/>
            </a:pPr>
            <a:r>
              <a:rPr lang="en-US" sz="1150" dirty="0">
                <a:solidFill>
                  <a:srgbClr val="1C2B25"/>
                </a:solidFill>
                <a:latin typeface="Calibri" pitchFamily="34" charset="0"/>
                <a:ea typeface="Calibri" pitchFamily="34" charset="-122"/>
                <a:cs typeface="Calibri" pitchFamily="34" charset="-120"/>
              </a:rPr>
              <a:t>chunks, each tagged with regulator, reference and page</a:t>
            </a:r>
            <a:endParaRPr lang="en-US" sz="1150" dirty="0"/>
          </a:p>
        </p:txBody>
      </p:sp>
      <p:sp>
        <p:nvSpPr>
          <p:cNvPr id="32" name="Text 25"/>
          <p:cNvSpPr txBox="1"/>
          <p:nvPr/>
        </p:nvSpPr>
        <p:spPr>
          <a:xfrm>
            <a:off x="457200" y="3886200"/>
            <a:ext cx="1325880" cy="640080"/>
          </a:xfrm>
          <a:prstGeom prst="rect">
            <a:avLst/>
          </a:prstGeom>
          <a:noFill/>
          <a:ln/>
        </p:spPr>
        <p:txBody>
          <a:bodyPr wrap="square" lIns="0" tIns="0" rIns="0" bIns="0" rtlCol="0" anchor="ctr"/>
          <a:lstStyle/>
          <a:p>
            <a:pPr algn="r" indent="0" marL="0">
              <a:buNone/>
            </a:pPr>
            <a:r>
              <a:rPr lang="en-US" sz="3000" b="1" dirty="0">
                <a:solidFill>
                  <a:srgbClr val="1F7A55"/>
                </a:solidFill>
                <a:latin typeface="Cambria" pitchFamily="34" charset="0"/>
                <a:ea typeface="Cambria" pitchFamily="34" charset="-122"/>
                <a:cs typeface="Cambria" pitchFamily="34" charset="-120"/>
              </a:rPr>
              <a:t>7</a:t>
            </a:r>
            <a:endParaRPr lang="en-US" sz="3000" dirty="0"/>
          </a:p>
        </p:txBody>
      </p:sp>
      <p:sp>
        <p:nvSpPr>
          <p:cNvPr id="33" name="Text 26"/>
          <p:cNvSpPr txBox="1"/>
          <p:nvPr/>
        </p:nvSpPr>
        <p:spPr>
          <a:xfrm>
            <a:off x="1965960" y="3886200"/>
            <a:ext cx="2240280" cy="640080"/>
          </a:xfrm>
          <a:prstGeom prst="rect">
            <a:avLst/>
          </a:prstGeom>
          <a:noFill/>
          <a:ln/>
        </p:spPr>
        <p:txBody>
          <a:bodyPr wrap="square" lIns="0" tIns="0" rIns="0" bIns="0" rtlCol="0" anchor="ctr"/>
          <a:lstStyle/>
          <a:p>
            <a:pPr indent="0" marL="0">
              <a:buNone/>
            </a:pPr>
            <a:r>
              <a:rPr lang="en-US" sz="1150" dirty="0">
                <a:solidFill>
                  <a:srgbClr val="1C2B25"/>
                </a:solidFill>
                <a:latin typeface="Calibri" pitchFamily="34" charset="0"/>
                <a:ea typeface="Calibri" pitchFamily="34" charset="-122"/>
                <a:cs typeface="Calibri" pitchFamily="34" charset="-120"/>
              </a:rPr>
              <a:t>scanned documents read by OCR, flagged in answers</a:t>
            </a:r>
            <a:endParaRPr lang="en-US" sz="1150" dirty="0"/>
          </a:p>
        </p:txBody>
      </p:sp>
      <p:graphicFrame>
        <p:nvGraphicFramePr>
          <p:cNvPr id="34" name="Chart 0" descr=""/>
          <p:cNvGraphicFramePr/>
          <p:nvPr/>
        </p:nvGraphicFramePr>
        <p:xfrm>
          <a:off x="4434840" y="2148840"/>
          <a:ext cx="4251960" cy="2423160"/>
        </p:xfrm>
        <a:graphic xmlns:a="http://schemas.openxmlformats.org/drawingml/2006/main">
          <a:graphicData uri="http://schemas.openxmlformats.org/drawingml/2006/chart">
            <c:chart xmlns:c="http://schemas.openxmlformats.org/drawingml/2006/chart" r:id="rId6"/>
          </a:graphicData>
        </a:graphic>
      </p:graphicFrame>
      <p:sp>
        <p:nvSpPr>
          <p:cNvPr id="35" name="Text 27"/>
          <p:cNvSpPr txBox="1"/>
          <p:nvPr/>
        </p:nvSpPr>
        <p:spPr>
          <a:xfrm>
            <a:off x="4434840" y="4590288"/>
            <a:ext cx="4251960" cy="274320"/>
          </a:xfrm>
          <a:prstGeom prst="rect">
            <a:avLst/>
          </a:prstGeom>
          <a:noFill/>
          <a:ln/>
        </p:spPr>
        <p:txBody>
          <a:bodyPr wrap="square" lIns="0" tIns="0" rIns="0" bIns="0" rtlCol="0" anchor="t"/>
          <a:lstStyle/>
          <a:p>
            <a:pPr indent="0" marL="0">
              <a:buNone/>
            </a:pPr>
            <a:r>
              <a:rPr lang="en-US" sz="1000" i="1" dirty="0">
                <a:solidFill>
                  <a:srgbClr val="5B6B64"/>
                </a:solidFill>
                <a:latin typeface="Calibri" pitchFamily="34" charset="0"/>
                <a:ea typeface="Calibri" pitchFamily="34" charset="-122"/>
                <a:cs typeface="Calibri" pitchFamily="34" charset="-120"/>
              </a:rPr>
              <a:t>SEC text is 61% of the corpus — regulator routing (slide 8) pushes back on that.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COMPULSORY  ·  EMBEDDINGS AND VECTOR DATABASE</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Embeddings and the vector database</a:t>
            </a:r>
            <a:endParaRPr lang="en-US" sz="2800" dirty="0"/>
          </a:p>
        </p:txBody>
      </p:sp>
      <p:sp>
        <p:nvSpPr>
          <p:cNvPr id="4" name="Shape 2"/>
          <p:cNvSpPr/>
          <p:nvPr/>
        </p:nvSpPr>
        <p:spPr>
          <a:xfrm>
            <a:off x="457200" y="1234440"/>
            <a:ext cx="3931920" cy="2194560"/>
          </a:xfrm>
          <a:prstGeom prst="roundRect">
            <a:avLst>
              <a:gd name="adj" fmla="val 3333"/>
            </a:avLst>
          </a:prstGeom>
          <a:solidFill>
            <a:srgbClr val="0B3D2E"/>
          </a:solidFill>
          <a:ln w="6350">
            <a:solidFill>
              <a:srgbClr val="0B3D2E"/>
            </a:solidFill>
            <a:prstDash val="solid"/>
          </a:ln>
        </p:spPr>
      </p:sp>
      <p:sp>
        <p:nvSpPr>
          <p:cNvPr id="5" name="Text 3"/>
          <p:cNvSpPr txBox="1"/>
          <p:nvPr/>
        </p:nvSpPr>
        <p:spPr>
          <a:xfrm>
            <a:off x="685800" y="1389888"/>
            <a:ext cx="3474720" cy="228600"/>
          </a:xfrm>
          <a:prstGeom prst="rect">
            <a:avLst/>
          </a:prstGeom>
          <a:noFill/>
          <a:ln/>
        </p:spPr>
        <p:txBody>
          <a:bodyPr wrap="square" lIns="0" tIns="0" rIns="0" bIns="0" rtlCol="0" anchor="t"/>
          <a:lstStyle/>
          <a:p>
            <a:pPr indent="0" marL="0">
              <a:buNone/>
            </a:pPr>
            <a:r>
              <a:rPr lang="en-US" sz="1050" b="1" spc="100" kern="0" dirty="0">
                <a:solidFill>
                  <a:srgbClr val="D99A1E"/>
                </a:solidFill>
                <a:latin typeface="Calibri" pitchFamily="34" charset="0"/>
                <a:ea typeface="Calibri" pitchFamily="34" charset="-122"/>
                <a:cs typeface="Calibri" pitchFamily="34" charset="-120"/>
              </a:rPr>
              <a:t>EMBEDDING MODEL</a:t>
            </a:r>
            <a:endParaRPr lang="en-US" sz="1050" dirty="0"/>
          </a:p>
        </p:txBody>
      </p:sp>
      <p:sp>
        <p:nvSpPr>
          <p:cNvPr id="6" name="Text 4"/>
          <p:cNvSpPr txBox="1"/>
          <p:nvPr/>
        </p:nvSpPr>
        <p:spPr>
          <a:xfrm>
            <a:off x="685800" y="1645920"/>
            <a:ext cx="3566160" cy="4114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BAAI/bge-small-en-v1.5</a:t>
            </a:r>
            <a:endParaRPr lang="en-US" sz="1900" dirty="0"/>
          </a:p>
        </p:txBody>
      </p:sp>
      <p:sp>
        <p:nvSpPr>
          <p:cNvPr id="7" name="Text 5"/>
          <p:cNvSpPr txBox="1"/>
          <p:nvPr/>
        </p:nvSpPr>
        <p:spPr>
          <a:xfrm>
            <a:off x="685800" y="2148840"/>
            <a:ext cx="3566160" cy="10972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6F2EC"/>
                </a:solidFill>
                <a:latin typeface="Calibri" pitchFamily="34" charset="0"/>
                <a:ea typeface="Calibri" pitchFamily="34" charset="-122"/>
                <a:cs typeface="Calibri" pitchFamily="34" charset="-120"/>
              </a:rPr>
              <a:t>384 dimensions, open source</a:t>
            </a:r>
            <a:endParaRPr lang="en-US" sz="1200" dirty="0"/>
          </a:p>
          <a:p>
            <a:pPr marL="342900" indent="-342900">
              <a:spcAft>
                <a:spcPts val="500"/>
              </a:spcAft>
              <a:buSzPct val="100000"/>
              <a:buChar char="•"/>
            </a:pPr>
            <a:r>
              <a:rPr lang="en-US" sz="1200" dirty="0">
                <a:solidFill>
                  <a:srgbClr val="E6F2EC"/>
                </a:solidFill>
                <a:latin typeface="Calibri" pitchFamily="34" charset="0"/>
                <a:ea typeface="Calibri" pitchFamily="34" charset="-122"/>
                <a:cs typeface="Calibri" pitchFamily="34" charset="-120"/>
              </a:rPr>
              <a:t>Runs on CPU — no data leaves the machine</a:t>
            </a:r>
            <a:endParaRPr lang="en-US" sz="1200" dirty="0"/>
          </a:p>
          <a:p>
            <a:pPr marL="342900" indent="-342900">
              <a:spcAft>
                <a:spcPts val="500"/>
              </a:spcAft>
              <a:buSzPct val="100000"/>
              <a:buChar char="•"/>
            </a:pPr>
            <a:r>
              <a:rPr lang="en-US" sz="1200" dirty="0">
                <a:solidFill>
                  <a:srgbClr val="E6F2EC"/>
                </a:solidFill>
                <a:latin typeface="Calibri" pitchFamily="34" charset="0"/>
                <a:ea typeface="Calibri" pitchFamily="34" charset="-122"/>
                <a:cs typeface="Calibri" pitchFamily="34" charset="-120"/>
              </a:rPr>
              <a:t>Stored in ChromaDB with cosine similarity</a:t>
            </a:r>
            <a:endParaRPr lang="en-US" sz="1200" dirty="0"/>
          </a:p>
        </p:txBody>
      </p:sp>
      <p:sp>
        <p:nvSpPr>
          <p:cNvPr id="8" name="Shape 6"/>
          <p:cNvSpPr/>
          <p:nvPr/>
        </p:nvSpPr>
        <p:spPr>
          <a:xfrm>
            <a:off x="4572000" y="1234440"/>
            <a:ext cx="4114800" cy="2194560"/>
          </a:xfrm>
          <a:prstGeom prst="roundRect">
            <a:avLst>
              <a:gd name="adj" fmla="val 3333"/>
            </a:avLst>
          </a:prstGeom>
          <a:solidFill>
            <a:srgbClr val="E6F2EC"/>
          </a:solidFill>
          <a:ln w="6350">
            <a:solidFill>
              <a:srgbClr val="E6F2EC"/>
            </a:solidFill>
            <a:prstDash val="solid"/>
          </a:ln>
        </p:spPr>
      </p:sp>
      <p:sp>
        <p:nvSpPr>
          <p:cNvPr id="9" name="Text 7"/>
          <p:cNvSpPr txBox="1"/>
          <p:nvPr/>
        </p:nvSpPr>
        <p:spPr>
          <a:xfrm>
            <a:off x="4800600" y="1389888"/>
            <a:ext cx="3657600" cy="228600"/>
          </a:xfrm>
          <a:prstGeom prst="rect">
            <a:avLst/>
          </a:prstGeom>
          <a:noFill/>
          <a:ln/>
        </p:spPr>
        <p:txBody>
          <a:bodyPr wrap="square" lIns="0" tIns="0" rIns="0" bIns="0" rtlCol="0" anchor="t"/>
          <a:lstStyle/>
          <a:p>
            <a:pPr indent="0" marL="0">
              <a:buNone/>
            </a:pPr>
            <a:r>
              <a:rPr lang="en-US" sz="1050" b="1" spc="100" kern="0" dirty="0">
                <a:solidFill>
                  <a:srgbClr val="1F7A55"/>
                </a:solidFill>
                <a:latin typeface="Calibri" pitchFamily="34" charset="0"/>
                <a:ea typeface="Calibri" pitchFamily="34" charset="-122"/>
                <a:cs typeface="Calibri" pitchFamily="34" charset="-120"/>
              </a:rPr>
              <a:t>EXPERIMENT: WHAT TEXT TO EMBED</a:t>
            </a:r>
            <a:endParaRPr lang="en-US" sz="1050" dirty="0"/>
          </a:p>
        </p:txBody>
      </p:sp>
      <p:sp>
        <p:nvSpPr>
          <p:cNvPr id="10" name="Shape 8"/>
          <p:cNvSpPr/>
          <p:nvPr/>
        </p:nvSpPr>
        <p:spPr>
          <a:xfrm>
            <a:off x="4800600" y="1737360"/>
            <a:ext cx="1600200" cy="658368"/>
          </a:xfrm>
          <a:prstGeom prst="roundRect">
            <a:avLst>
              <a:gd name="adj" fmla="val 11111"/>
            </a:avLst>
          </a:prstGeom>
          <a:solidFill>
            <a:srgbClr val="FFFFFF"/>
          </a:solidFill>
          <a:ln w="9525">
            <a:solidFill>
              <a:srgbClr val="C9DDD2"/>
            </a:solidFill>
            <a:prstDash val="solid"/>
          </a:ln>
        </p:spPr>
      </p:sp>
      <p:sp>
        <p:nvSpPr>
          <p:cNvPr id="11" name="Text 9"/>
          <p:cNvSpPr txBox="1"/>
          <p:nvPr/>
        </p:nvSpPr>
        <p:spPr>
          <a:xfrm>
            <a:off x="4910328" y="1792224"/>
            <a:ext cx="1371600" cy="201168"/>
          </a:xfrm>
          <a:prstGeom prst="rect">
            <a:avLst/>
          </a:prstGeom>
          <a:noFill/>
          <a:ln/>
        </p:spPr>
        <p:txBody>
          <a:bodyPr wrap="square" lIns="0" tIns="0" rIns="0" bIns="0" rtlCol="0" anchor="t"/>
          <a:lstStyle/>
          <a:p>
            <a:pPr indent="0" marL="0">
              <a:buNone/>
            </a:pPr>
            <a:r>
              <a:rPr lang="en-US" sz="950" dirty="0">
                <a:solidFill>
                  <a:srgbClr val="5B6B64"/>
                </a:solidFill>
                <a:latin typeface="Calibri" pitchFamily="34" charset="0"/>
                <a:ea typeface="Calibri" pitchFamily="34" charset="-122"/>
                <a:cs typeface="Calibri" pitchFamily="34" charset="-120"/>
              </a:rPr>
              <a:t>Before</a:t>
            </a:r>
            <a:endParaRPr lang="en-US" sz="950" dirty="0"/>
          </a:p>
        </p:txBody>
      </p:sp>
      <p:sp>
        <p:nvSpPr>
          <p:cNvPr id="12" name="Text 10"/>
          <p:cNvSpPr txBox="1"/>
          <p:nvPr/>
        </p:nvSpPr>
        <p:spPr>
          <a:xfrm>
            <a:off x="4910328" y="2011680"/>
            <a:ext cx="1417320" cy="292608"/>
          </a:xfrm>
          <a:prstGeom prst="rect">
            <a:avLst/>
          </a:prstGeom>
          <a:noFill/>
          <a:ln/>
        </p:spPr>
        <p:txBody>
          <a:bodyPr wrap="square" lIns="0" tIns="0" rIns="0" bIns="0" rtlCol="0" anchor="t"/>
          <a:lstStyle/>
          <a:p>
            <a:pPr indent="0" marL="0">
              <a:buNone/>
            </a:pPr>
            <a:r>
              <a:rPr lang="en-US" sz="1200" b="1" dirty="0">
                <a:solidFill>
                  <a:srgbClr val="1C2B25"/>
                </a:solidFill>
                <a:latin typeface="Calibri" pitchFamily="34" charset="0"/>
                <a:ea typeface="Calibri" pitchFamily="34" charset="-122"/>
                <a:cs typeface="Calibri" pitchFamily="34" charset="-120"/>
              </a:rPr>
              <a:t>Chunk text</a:t>
            </a:r>
            <a:endParaRPr lang="en-US" sz="1200" dirty="0"/>
          </a:p>
        </p:txBody>
      </p:sp>
      <p:sp>
        <p:nvSpPr>
          <p:cNvPr id="13" name="Shape 11"/>
          <p:cNvSpPr/>
          <p:nvPr/>
        </p:nvSpPr>
        <p:spPr>
          <a:xfrm>
            <a:off x="6473952" y="2066544"/>
            <a:ext cx="310896" cy="0"/>
          </a:xfrm>
          <a:prstGeom prst="line">
            <a:avLst/>
          </a:prstGeom>
          <a:noFill/>
          <a:ln w="19050">
            <a:solidFill>
              <a:srgbClr val="1F7A55"/>
            </a:solidFill>
            <a:prstDash val="solid"/>
            <a:tailEnd type="triangle"/>
          </a:ln>
        </p:spPr>
      </p:sp>
      <p:sp>
        <p:nvSpPr>
          <p:cNvPr id="14" name="Shape 12"/>
          <p:cNvSpPr/>
          <p:nvPr/>
        </p:nvSpPr>
        <p:spPr>
          <a:xfrm>
            <a:off x="6858000" y="1737360"/>
            <a:ext cx="1645920" cy="658368"/>
          </a:xfrm>
          <a:prstGeom prst="roundRect">
            <a:avLst>
              <a:gd name="adj" fmla="val 11111"/>
            </a:avLst>
          </a:prstGeom>
          <a:solidFill>
            <a:srgbClr val="FFFFFF"/>
          </a:solidFill>
          <a:ln w="9525">
            <a:solidFill>
              <a:srgbClr val="C9DDD2"/>
            </a:solidFill>
            <a:prstDash val="solid"/>
          </a:ln>
        </p:spPr>
      </p:sp>
      <p:sp>
        <p:nvSpPr>
          <p:cNvPr id="15" name="Text 13"/>
          <p:cNvSpPr txBox="1"/>
          <p:nvPr/>
        </p:nvSpPr>
        <p:spPr>
          <a:xfrm>
            <a:off x="6967728" y="1792224"/>
            <a:ext cx="1371600" cy="201168"/>
          </a:xfrm>
          <a:prstGeom prst="rect">
            <a:avLst/>
          </a:prstGeom>
          <a:noFill/>
          <a:ln/>
        </p:spPr>
        <p:txBody>
          <a:bodyPr wrap="square" lIns="0" tIns="0" rIns="0" bIns="0" rtlCol="0" anchor="t"/>
          <a:lstStyle/>
          <a:p>
            <a:pPr indent="0" marL="0">
              <a:buNone/>
            </a:pPr>
            <a:r>
              <a:rPr lang="en-US" sz="950" dirty="0">
                <a:solidFill>
                  <a:srgbClr val="5B6B64"/>
                </a:solidFill>
                <a:latin typeface="Calibri" pitchFamily="34" charset="0"/>
                <a:ea typeface="Calibri" pitchFamily="34" charset="-122"/>
                <a:cs typeface="Calibri" pitchFamily="34" charset="-120"/>
              </a:rPr>
              <a:t>After</a:t>
            </a:r>
            <a:endParaRPr lang="en-US" sz="950" dirty="0"/>
          </a:p>
        </p:txBody>
      </p:sp>
      <p:sp>
        <p:nvSpPr>
          <p:cNvPr id="16" name="Text 14"/>
          <p:cNvSpPr txBox="1"/>
          <p:nvPr/>
        </p:nvSpPr>
        <p:spPr>
          <a:xfrm>
            <a:off x="6967728" y="2011680"/>
            <a:ext cx="1463040" cy="292608"/>
          </a:xfrm>
          <a:prstGeom prst="rect">
            <a:avLst/>
          </a:prstGeom>
          <a:noFill/>
          <a:ln/>
        </p:spPr>
        <p:txBody>
          <a:bodyPr wrap="square" lIns="0" tIns="0" rIns="0" bIns="0" rtlCol="0" anchor="t"/>
          <a:lstStyle/>
          <a:p>
            <a:pPr indent="0" marL="0">
              <a:buNone/>
            </a:pPr>
            <a:r>
              <a:rPr lang="en-US" sz="1200" b="1" dirty="0">
                <a:solidFill>
                  <a:srgbClr val="1C2B25"/>
                </a:solidFill>
                <a:latin typeface="Calibri" pitchFamily="34" charset="0"/>
                <a:ea typeface="Calibri" pitchFamily="34" charset="-122"/>
                <a:cs typeface="Calibri" pitchFamily="34" charset="-120"/>
              </a:rPr>
              <a:t>Header + text</a:t>
            </a:r>
            <a:endParaRPr lang="en-US" sz="1200" dirty="0"/>
          </a:p>
        </p:txBody>
      </p:sp>
      <p:sp>
        <p:nvSpPr>
          <p:cNvPr id="17" name="Text 15"/>
          <p:cNvSpPr txBox="1"/>
          <p:nvPr/>
        </p:nvSpPr>
        <p:spPr>
          <a:xfrm>
            <a:off x="4800600" y="2542032"/>
            <a:ext cx="3703320" cy="777240"/>
          </a:xfrm>
          <a:prstGeom prst="rect">
            <a:avLst/>
          </a:prstGeom>
          <a:noFill/>
          <a:ln/>
        </p:spPr>
        <p:txBody>
          <a:bodyPr wrap="square" lIns="0" tIns="0" rIns="0" bIns="0" rtlCol="0" anchor="t"/>
          <a:lstStyle/>
          <a:p>
            <a:pPr indent="0" marL="0">
              <a:buNone/>
            </a:pPr>
            <a:r>
              <a:rPr lang="en-US" sz="1100" dirty="0">
                <a:solidFill>
                  <a:srgbClr val="1C2B25"/>
                </a:solidFill>
                <a:latin typeface="Calibri" pitchFamily="34" charset="0"/>
                <a:ea typeface="Calibri" pitchFamily="34" charset="-122"/>
                <a:cs typeface="Calibri" pitchFamily="34" charset="-120"/>
              </a:rPr>
              <a:t>Prepending regulator, reference number, title and date made circulars such as FPR/DIR/PUB/CIR/002/009 findable by number.</a:t>
            </a:r>
            <a:endParaRPr lang="en-US" sz="1100" dirty="0"/>
          </a:p>
        </p:txBody>
      </p:sp>
      <p:sp>
        <p:nvSpPr>
          <p:cNvPr id="18" name="Shape 16"/>
          <p:cNvSpPr/>
          <p:nvPr/>
        </p:nvSpPr>
        <p:spPr>
          <a:xfrm>
            <a:off x="457200" y="3657600"/>
            <a:ext cx="5257800" cy="1051560"/>
          </a:xfrm>
          <a:prstGeom prst="roundRect">
            <a:avLst>
              <a:gd name="adj" fmla="val 6957"/>
            </a:avLst>
          </a:prstGeom>
          <a:solidFill>
            <a:srgbClr val="F3F8F5"/>
          </a:solidFill>
          <a:ln w="9525">
            <a:solidFill>
              <a:srgbClr val="C9DDD2"/>
            </a:solidFill>
            <a:prstDash val="solid"/>
          </a:ln>
        </p:spPr>
      </p:sp>
      <p:sp>
        <p:nvSpPr>
          <p:cNvPr id="19" name="Text 17"/>
          <p:cNvSpPr txBox="1"/>
          <p:nvPr/>
        </p:nvSpPr>
        <p:spPr>
          <a:xfrm>
            <a:off x="658368" y="3767328"/>
            <a:ext cx="4846320" cy="274320"/>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The reranker needed the same input</a:t>
            </a:r>
            <a:endParaRPr lang="en-US" sz="1250" dirty="0"/>
          </a:p>
        </p:txBody>
      </p:sp>
      <p:sp>
        <p:nvSpPr>
          <p:cNvPr id="20" name="Text 18"/>
          <p:cNvSpPr txBox="1"/>
          <p:nvPr/>
        </p:nvSpPr>
        <p:spPr>
          <a:xfrm>
            <a:off x="658368" y="4069080"/>
            <a:ext cx="4892040" cy="566928"/>
          </a:xfrm>
          <a:prstGeom prst="rect">
            <a:avLst/>
          </a:prstGeom>
          <a:noFill/>
          <a:ln/>
        </p:spPr>
        <p:txBody>
          <a:bodyPr wrap="square" lIns="0" tIns="0" rIns="0" bIns="0" rtlCol="0" anchor="t"/>
          <a:lstStyle/>
          <a:p>
            <a:pPr indent="0" marL="0">
              <a:buNone/>
            </a:pPr>
            <a:r>
              <a:rPr lang="en-US" sz="1100" dirty="0">
                <a:solidFill>
                  <a:srgbClr val="1C2B25"/>
                </a:solidFill>
                <a:latin typeface="Calibri" pitchFamily="34" charset="0"/>
                <a:ea typeface="Calibri" pitchFamily="34" charset="-122"/>
                <a:cs typeface="Calibri" pitchFamily="34" charset="-120"/>
              </a:rPr>
              <a:t>Scored on bare chunk text it was the worst method (0.81 hit rate, 0.625 MRR). Given the header, it became the best-ordered of all.</a:t>
            </a:r>
            <a:endParaRPr lang="en-US" sz="1100" dirty="0"/>
          </a:p>
        </p:txBody>
      </p:sp>
      <p:sp>
        <p:nvSpPr>
          <p:cNvPr id="21" name="Shape 19"/>
          <p:cNvSpPr/>
          <p:nvPr/>
        </p:nvSpPr>
        <p:spPr>
          <a:xfrm>
            <a:off x="5897880" y="3657600"/>
            <a:ext cx="2788920" cy="1051560"/>
          </a:xfrm>
          <a:prstGeom prst="roundRect">
            <a:avLst>
              <a:gd name="adj" fmla="val 6957"/>
            </a:avLst>
          </a:prstGeom>
          <a:solidFill>
            <a:srgbClr val="FBEBC8"/>
          </a:solidFill>
          <a:ln w="6350">
            <a:solidFill>
              <a:srgbClr val="FBEBC8"/>
            </a:solidFill>
            <a:prstDash val="solid"/>
          </a:ln>
        </p:spPr>
      </p:sp>
      <p:pic>
        <p:nvPicPr>
          <p:cNvPr id="22" name="Image 0" descr="preencoded.png">    </p:cNvPr>
          <p:cNvPicPr>
            <a:picLocks noChangeAspect="1"/>
          </p:cNvPicPr>
          <p:nvPr/>
        </p:nvPicPr>
        <p:blipFill>
          <a:blip r:embed="rId1"/>
          <a:stretch>
            <a:fillRect/>
          </a:stretch>
        </p:blipFill>
        <p:spPr>
          <a:xfrm>
            <a:off x="6080760" y="3794760"/>
            <a:ext cx="237744" cy="237744"/>
          </a:xfrm>
          <a:prstGeom prst="rect">
            <a:avLst/>
          </a:prstGeom>
        </p:spPr>
      </p:pic>
      <p:sp>
        <p:nvSpPr>
          <p:cNvPr id="23" name="Text 20"/>
          <p:cNvSpPr txBox="1"/>
          <p:nvPr/>
        </p:nvSpPr>
        <p:spPr>
          <a:xfrm>
            <a:off x="6400800" y="3767328"/>
            <a:ext cx="2103120" cy="274320"/>
          </a:xfrm>
          <a:prstGeom prst="rect">
            <a:avLst/>
          </a:prstGeom>
          <a:noFill/>
          <a:ln/>
        </p:spPr>
        <p:txBody>
          <a:bodyPr wrap="square" lIns="0" tIns="0" rIns="0" bIns="0" rtlCol="0" anchor="t"/>
          <a:lstStyle/>
          <a:p>
            <a:pPr indent="0" marL="0">
              <a:buNone/>
            </a:pPr>
            <a:r>
              <a:rPr lang="en-US" sz="1250" b="1" dirty="0">
                <a:solidFill>
                  <a:srgbClr val="8A5A00"/>
                </a:solidFill>
                <a:latin typeface="Calibri" pitchFamily="34" charset="0"/>
                <a:ea typeface="Calibri" pitchFamily="34" charset="-122"/>
                <a:cs typeface="Calibri" pitchFamily="34" charset="-120"/>
              </a:rPr>
              <a:t>Not yet done</a:t>
            </a:r>
            <a:endParaRPr lang="en-US" sz="1250" dirty="0"/>
          </a:p>
        </p:txBody>
      </p:sp>
      <p:sp>
        <p:nvSpPr>
          <p:cNvPr id="24" name="Text 21"/>
          <p:cNvSpPr txBox="1"/>
          <p:nvPr/>
        </p:nvSpPr>
        <p:spPr>
          <a:xfrm>
            <a:off x="6080760" y="4087368"/>
            <a:ext cx="2468880" cy="566928"/>
          </a:xfrm>
          <a:prstGeom prst="rect">
            <a:avLst/>
          </a:prstGeom>
          <a:noFill/>
          <a:ln/>
        </p:spPr>
        <p:txBody>
          <a:bodyPr wrap="square" lIns="0" tIns="0" rIns="0" bIns="0" rtlCol="0" anchor="t"/>
          <a:lstStyle/>
          <a:p>
            <a:pPr indent="0" marL="0">
              <a:buNone/>
            </a:pPr>
            <a:r>
              <a:rPr lang="en-US" sz="1050" dirty="0">
                <a:solidFill>
                  <a:srgbClr val="8A5A00"/>
                </a:solidFill>
                <a:latin typeface="Calibri" pitchFamily="34" charset="0"/>
                <a:ea typeface="Calibri" pitchFamily="34" charset="-122"/>
                <a:cs typeface="Calibri" pitchFamily="34" charset="-120"/>
              </a:rPr>
              <a:t>A side-by-side comparison of embedding models, including a commercial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COMPULSORY  ·  RETRIEVAL STRATEGIES</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Four retrieval strategies, measured</a:t>
            </a:r>
            <a:endParaRPr lang="en-US" sz="2800" dirty="0"/>
          </a:p>
        </p:txBody>
      </p:sp>
      <p:graphicFrame>
        <p:nvGraphicFramePr>
          <p:cNvPr id="4" name="Chart 0" descr=""/>
          <p:cNvGraphicFramePr/>
          <p:nvPr/>
        </p:nvGraphicFramePr>
        <p:xfrm>
          <a:off x="457200" y="1188720"/>
          <a:ext cx="5029200" cy="3337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1234440"/>
            <a:ext cx="3017520" cy="3291840"/>
          </a:xfrm>
          <a:prstGeom prst="roundRect">
            <a:avLst>
              <a:gd name="adj" fmla="val 2424"/>
            </a:avLst>
          </a:prstGeom>
          <a:solidFill>
            <a:srgbClr val="0B3D2E"/>
          </a:solidFill>
          <a:ln w="6350">
            <a:solidFill>
              <a:srgbClr val="0B3D2E"/>
            </a:solidFill>
            <a:prstDash val="solid"/>
          </a:ln>
        </p:spPr>
      </p:sp>
      <p:sp>
        <p:nvSpPr>
          <p:cNvPr id="6" name="Text 3"/>
          <p:cNvSpPr txBox="1"/>
          <p:nvPr/>
        </p:nvSpPr>
        <p:spPr>
          <a:xfrm>
            <a:off x="5870448" y="1389888"/>
            <a:ext cx="2651760" cy="228600"/>
          </a:xfrm>
          <a:prstGeom prst="rect">
            <a:avLst/>
          </a:prstGeom>
          <a:noFill/>
          <a:ln/>
        </p:spPr>
        <p:txBody>
          <a:bodyPr wrap="square" lIns="0" tIns="0" rIns="0" bIns="0" rtlCol="0" anchor="t"/>
          <a:lstStyle/>
          <a:p>
            <a:pPr indent="0" marL="0">
              <a:buNone/>
            </a:pPr>
            <a:r>
              <a:rPr lang="en-US" sz="1050" b="1" spc="100" kern="0" dirty="0">
                <a:solidFill>
                  <a:srgbClr val="D99A1E"/>
                </a:solidFill>
                <a:latin typeface="Calibri" pitchFamily="34" charset="0"/>
                <a:ea typeface="Calibri" pitchFamily="34" charset="-122"/>
                <a:cs typeface="Calibri" pitchFamily="34" charset="-120"/>
              </a:rPr>
              <a:t>DECISION</a:t>
            </a:r>
            <a:endParaRPr lang="en-US" sz="1050" dirty="0"/>
          </a:p>
        </p:txBody>
      </p:sp>
      <p:sp>
        <p:nvSpPr>
          <p:cNvPr id="7" name="Text 4"/>
          <p:cNvSpPr txBox="1"/>
          <p:nvPr/>
        </p:nvSpPr>
        <p:spPr>
          <a:xfrm>
            <a:off x="5870448" y="1645920"/>
            <a:ext cx="269748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Hybrid RRF, top 5</a:t>
            </a:r>
            <a:endParaRPr lang="en-US" sz="1900" dirty="0"/>
          </a:p>
        </p:txBody>
      </p:sp>
      <p:sp>
        <p:nvSpPr>
          <p:cNvPr id="8" name="Text 5"/>
          <p:cNvSpPr txBox="1"/>
          <p:nvPr/>
        </p:nvSpPr>
        <p:spPr>
          <a:xfrm>
            <a:off x="5870448" y="2148840"/>
            <a:ext cx="2697480" cy="22860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6F2EC"/>
                </a:solidFill>
                <a:latin typeface="Calibri" pitchFamily="34" charset="0"/>
                <a:ea typeface="Calibri" pitchFamily="34" charset="-122"/>
                <a:cs typeface="Calibri" pitchFamily="34" charset="-120"/>
              </a:rPr>
              <a:t>Highest hit rate at the k the pipeline uses: 15 of 16 questions</a:t>
            </a:r>
            <a:endParaRPr lang="en-US" sz="1100" dirty="0"/>
          </a:p>
          <a:p>
            <a:pPr marL="342900" indent="-342900">
              <a:spcAft>
                <a:spcPts val="600"/>
              </a:spcAft>
              <a:buSzPct val="100000"/>
              <a:buChar char="•"/>
            </a:pPr>
            <a:r>
              <a:rPr lang="en-US" sz="1100" dirty="0">
                <a:solidFill>
                  <a:srgbClr val="E6F2EC"/>
                </a:solidFill>
                <a:latin typeface="Calibri" pitchFamily="34" charset="0"/>
                <a:ea typeface="Calibri" pitchFamily="34" charset="-122"/>
                <a:cs typeface="Calibri" pitchFamily="34" charset="-120"/>
              </a:rPr>
              <a:t>No extra model to load</a:t>
            </a:r>
            <a:endParaRPr lang="en-US" sz="1100" dirty="0"/>
          </a:p>
          <a:p>
            <a:pPr marL="342900" indent="-342900">
              <a:spcAft>
                <a:spcPts val="600"/>
              </a:spcAft>
              <a:buSzPct val="100000"/>
              <a:buChar char="•"/>
            </a:pPr>
            <a:r>
              <a:rPr lang="en-US" sz="1100" dirty="0">
                <a:solidFill>
                  <a:srgbClr val="E6F2EC"/>
                </a:solidFill>
                <a:latin typeface="Calibri" pitchFamily="34" charset="0"/>
                <a:ea typeface="Calibri" pitchFamily="34" charset="-122"/>
                <a:cs typeface="Calibri" pitchFamily="34" charset="-120"/>
              </a:rPr>
              <a:t>The reranker orders better (0.79 vs 0.70 MRR), but costs a 1.1 GB model and about a second per query — and all five chunks reach the LLM anyway</a:t>
            </a:r>
            <a:endParaRPr lang="en-US" sz="1100" dirty="0"/>
          </a:p>
        </p:txBody>
      </p:sp>
      <p:sp>
        <p:nvSpPr>
          <p:cNvPr id="9" name="Text 6"/>
          <p:cNvSpPr txBox="1"/>
          <p:nvPr/>
        </p:nvSpPr>
        <p:spPr>
          <a:xfrm>
            <a:off x="457200" y="4617720"/>
            <a:ext cx="8229600" cy="320040"/>
          </a:xfrm>
          <a:prstGeom prst="rect">
            <a:avLst/>
          </a:prstGeom>
          <a:noFill/>
          <a:ln/>
        </p:spPr>
        <p:txBody>
          <a:bodyPr wrap="square" lIns="0" tIns="0" rIns="0" bIns="0" rtlCol="0" anchor="t"/>
          <a:lstStyle/>
          <a:p>
            <a:pPr indent="0" marL="0">
              <a:buNone/>
            </a:pPr>
            <a:r>
              <a:rPr lang="en-US" sz="950" dirty="0">
                <a:solidFill>
                  <a:srgbClr val="5B6B64"/>
                </a:solidFill>
                <a:latin typeface="Calibri" pitchFamily="34" charset="0"/>
                <a:ea typeface="Calibri" pitchFamily="34" charset="-122"/>
                <a:cs typeface="Calibri" pitchFamily="34" charset="-120"/>
              </a:rPr>
              <a:t>16 scored test questions, also swept at k = 1, 3, 5 and 10. Hit rate: expected document in the top 5. MRR: mean reciprocal rank of the first correct document.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COMPULSORY  ·  RAG PIPELINE AND SOURCES</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From question to cited answer</a:t>
            </a:r>
            <a:endParaRPr lang="en-US" sz="2800" dirty="0"/>
          </a:p>
        </p:txBody>
      </p:sp>
      <p:sp>
        <p:nvSpPr>
          <p:cNvPr id="4" name="Shape 2"/>
          <p:cNvSpPr/>
          <p:nvPr/>
        </p:nvSpPr>
        <p:spPr>
          <a:xfrm>
            <a:off x="457200" y="1234440"/>
            <a:ext cx="1481328" cy="1645920"/>
          </a:xfrm>
          <a:prstGeom prst="roundRect">
            <a:avLst>
              <a:gd name="adj" fmla="val 4938"/>
            </a:avLst>
          </a:prstGeom>
          <a:solidFill>
            <a:srgbClr val="E6F2EC"/>
          </a:solidFill>
          <a:ln w="6350">
            <a:solidFill>
              <a:srgbClr val="E6F2EC"/>
            </a:solidFill>
            <a:prstDash val="solid"/>
          </a:ln>
        </p:spPr>
      </p:sp>
      <p:sp>
        <p:nvSpPr>
          <p:cNvPr id="5" name="Shape 3"/>
          <p:cNvSpPr/>
          <p:nvPr/>
        </p:nvSpPr>
        <p:spPr>
          <a:xfrm>
            <a:off x="932688" y="1371600"/>
            <a:ext cx="530352" cy="530352"/>
          </a:xfrm>
          <a:prstGeom prst="ellipse">
            <a:avLst/>
          </a:prstGeom>
          <a:solidFill>
            <a:srgbClr val="1F7A55"/>
          </a:solidFill>
          <a:ln w="6350">
            <a:solidFill>
              <a:srgbClr val="1F7A55"/>
            </a:solidFill>
            <a:prstDash val="solid"/>
          </a:ln>
        </p:spPr>
      </p:sp>
      <p:pic>
        <p:nvPicPr>
          <p:cNvPr id="6" name="Image 0" descr="preencoded.png">    </p:cNvPr>
          <p:cNvPicPr>
            <a:picLocks noChangeAspect="1"/>
          </p:cNvPicPr>
          <p:nvPr/>
        </p:nvPicPr>
        <p:blipFill>
          <a:blip r:embed="rId1"/>
          <a:stretch>
            <a:fillRect/>
          </a:stretch>
        </p:blipFill>
        <p:spPr>
          <a:xfrm>
            <a:off x="1052017" y="1490929"/>
            <a:ext cx="291694" cy="291694"/>
          </a:xfrm>
          <a:prstGeom prst="rect">
            <a:avLst/>
          </a:prstGeom>
        </p:spPr>
      </p:pic>
      <p:sp>
        <p:nvSpPr>
          <p:cNvPr id="7" name="Text 4"/>
          <p:cNvSpPr txBox="1"/>
          <p:nvPr/>
        </p:nvSpPr>
        <p:spPr>
          <a:xfrm>
            <a:off x="530352" y="1984248"/>
            <a:ext cx="1335024" cy="292608"/>
          </a:xfrm>
          <a:prstGeom prst="rect">
            <a:avLst/>
          </a:prstGeom>
          <a:noFill/>
          <a:ln/>
        </p:spPr>
        <p:txBody>
          <a:bodyPr wrap="square" lIns="0" tIns="0" rIns="0" bIns="0" rtlCol="0" anchor="t"/>
          <a:lstStyle/>
          <a:p>
            <a:pPr algn="ctr" indent="0" marL="0">
              <a:buNone/>
            </a:pPr>
            <a:r>
              <a:rPr lang="en-US" sz="1200" b="1" dirty="0">
                <a:solidFill>
                  <a:srgbClr val="0B3D2E"/>
                </a:solidFill>
                <a:latin typeface="Calibri" pitchFamily="34" charset="0"/>
                <a:ea typeface="Calibri" pitchFamily="34" charset="-122"/>
                <a:cs typeface="Calibri" pitchFamily="34" charset="-120"/>
              </a:rPr>
              <a:t>Hybrid retrieval</a:t>
            </a:r>
            <a:endParaRPr lang="en-US" sz="1200" dirty="0"/>
          </a:p>
        </p:txBody>
      </p:sp>
      <p:sp>
        <p:nvSpPr>
          <p:cNvPr id="8" name="Text 5"/>
          <p:cNvSpPr txBox="1"/>
          <p:nvPr/>
        </p:nvSpPr>
        <p:spPr>
          <a:xfrm>
            <a:off x="566928" y="2286000"/>
            <a:ext cx="1261872" cy="502920"/>
          </a:xfrm>
          <a:prstGeom prst="rect">
            <a:avLst/>
          </a:prstGeom>
          <a:noFill/>
          <a:ln/>
        </p:spPr>
        <p:txBody>
          <a:bodyPr wrap="square" lIns="0" tIns="0" rIns="0" bIns="0" rtlCol="0" anchor="t"/>
          <a:lstStyle/>
          <a:p>
            <a:pPr algn="ctr" indent="0" marL="0">
              <a:buNone/>
            </a:pPr>
            <a:r>
              <a:rPr lang="en-US" sz="1000" dirty="0">
                <a:solidFill>
                  <a:srgbClr val="5B6B64"/>
                </a:solidFill>
                <a:latin typeface="Calibri" pitchFamily="34" charset="0"/>
                <a:ea typeface="Calibri" pitchFamily="34" charset="-122"/>
                <a:cs typeface="Calibri" pitchFamily="34" charset="-120"/>
              </a:rPr>
              <a:t>Dense + BM25, fused by rank</a:t>
            </a:r>
            <a:endParaRPr lang="en-US" sz="1000" dirty="0"/>
          </a:p>
        </p:txBody>
      </p:sp>
      <p:sp>
        <p:nvSpPr>
          <p:cNvPr id="9" name="Shape 6"/>
          <p:cNvSpPr/>
          <p:nvPr/>
        </p:nvSpPr>
        <p:spPr>
          <a:xfrm>
            <a:off x="1956816" y="1636776"/>
            <a:ext cx="169164" cy="0"/>
          </a:xfrm>
          <a:prstGeom prst="line">
            <a:avLst/>
          </a:prstGeom>
          <a:noFill/>
          <a:ln w="19050">
            <a:solidFill>
              <a:srgbClr val="1F7A55"/>
            </a:solidFill>
            <a:prstDash val="solid"/>
            <a:tailEnd type="triangle"/>
          </a:ln>
        </p:spPr>
      </p:sp>
      <p:sp>
        <p:nvSpPr>
          <p:cNvPr id="10" name="Shape 7"/>
          <p:cNvSpPr/>
          <p:nvPr/>
        </p:nvSpPr>
        <p:spPr>
          <a:xfrm>
            <a:off x="2144268" y="1234440"/>
            <a:ext cx="1481328" cy="1645920"/>
          </a:xfrm>
          <a:prstGeom prst="roundRect">
            <a:avLst>
              <a:gd name="adj" fmla="val 4938"/>
            </a:avLst>
          </a:prstGeom>
          <a:solidFill>
            <a:srgbClr val="E6F2EC"/>
          </a:solidFill>
          <a:ln w="6350">
            <a:solidFill>
              <a:srgbClr val="E6F2EC"/>
            </a:solidFill>
            <a:prstDash val="solid"/>
          </a:ln>
        </p:spPr>
      </p:sp>
      <p:sp>
        <p:nvSpPr>
          <p:cNvPr id="11" name="Shape 8"/>
          <p:cNvSpPr/>
          <p:nvPr/>
        </p:nvSpPr>
        <p:spPr>
          <a:xfrm>
            <a:off x="2619756" y="1371600"/>
            <a:ext cx="530352" cy="530352"/>
          </a:xfrm>
          <a:prstGeom prst="ellipse">
            <a:avLst/>
          </a:prstGeom>
          <a:solidFill>
            <a:srgbClr val="1F7A55"/>
          </a:solidFill>
          <a:ln w="6350">
            <a:solidFill>
              <a:srgbClr val="1F7A55"/>
            </a:solidFill>
            <a:prstDash val="solid"/>
          </a:ln>
        </p:spPr>
      </p:sp>
      <p:pic>
        <p:nvPicPr>
          <p:cNvPr id="12" name="Image 1" descr="preencoded.png">    </p:cNvPr>
          <p:cNvPicPr>
            <a:picLocks noChangeAspect="1"/>
          </p:cNvPicPr>
          <p:nvPr/>
        </p:nvPicPr>
        <p:blipFill>
          <a:blip r:embed="rId2"/>
          <a:stretch>
            <a:fillRect/>
          </a:stretch>
        </p:blipFill>
        <p:spPr>
          <a:xfrm>
            <a:off x="2739085" y="1490929"/>
            <a:ext cx="291694" cy="291694"/>
          </a:xfrm>
          <a:prstGeom prst="rect">
            <a:avLst/>
          </a:prstGeom>
        </p:spPr>
      </p:pic>
      <p:sp>
        <p:nvSpPr>
          <p:cNvPr id="13" name="Text 9"/>
          <p:cNvSpPr txBox="1"/>
          <p:nvPr/>
        </p:nvSpPr>
        <p:spPr>
          <a:xfrm>
            <a:off x="2217420" y="1984248"/>
            <a:ext cx="1335024" cy="292608"/>
          </a:xfrm>
          <a:prstGeom prst="rect">
            <a:avLst/>
          </a:prstGeom>
          <a:noFill/>
          <a:ln/>
        </p:spPr>
        <p:txBody>
          <a:bodyPr wrap="square" lIns="0" tIns="0" rIns="0" bIns="0" rtlCol="0" anchor="t"/>
          <a:lstStyle/>
          <a:p>
            <a:pPr algn="ctr" indent="0" marL="0">
              <a:buNone/>
            </a:pPr>
            <a:r>
              <a:rPr lang="en-US" sz="1200" b="1" dirty="0">
                <a:solidFill>
                  <a:srgbClr val="0B3D2E"/>
                </a:solidFill>
                <a:latin typeface="Calibri" pitchFamily="34" charset="0"/>
                <a:ea typeface="Calibri" pitchFamily="34" charset="-122"/>
                <a:cs typeface="Calibri" pitchFamily="34" charset="-120"/>
              </a:rPr>
              <a:t>Regulator routing</a:t>
            </a:r>
            <a:endParaRPr lang="en-US" sz="1200" dirty="0"/>
          </a:p>
        </p:txBody>
      </p:sp>
      <p:sp>
        <p:nvSpPr>
          <p:cNvPr id="14" name="Text 10"/>
          <p:cNvSpPr txBox="1"/>
          <p:nvPr/>
        </p:nvSpPr>
        <p:spPr>
          <a:xfrm>
            <a:off x="2253996" y="2286000"/>
            <a:ext cx="1261872" cy="502920"/>
          </a:xfrm>
          <a:prstGeom prst="rect">
            <a:avLst/>
          </a:prstGeom>
          <a:noFill/>
          <a:ln/>
        </p:spPr>
        <p:txBody>
          <a:bodyPr wrap="square" lIns="0" tIns="0" rIns="0" bIns="0" rtlCol="0" anchor="t"/>
          <a:lstStyle/>
          <a:p>
            <a:pPr algn="ctr" indent="0" marL="0">
              <a:buNone/>
            </a:pPr>
            <a:r>
              <a:rPr lang="en-US" sz="1000" dirty="0">
                <a:solidFill>
                  <a:srgbClr val="5B6B64"/>
                </a:solidFill>
                <a:latin typeface="Calibri" pitchFamily="34" charset="0"/>
                <a:ea typeface="Calibri" pitchFamily="34" charset="-122"/>
                <a:cs typeface="Calibri" pitchFamily="34" charset="-120"/>
              </a:rPr>
              <a:t>Boost CBN or SEC, never filter</a:t>
            </a:r>
            <a:endParaRPr lang="en-US" sz="1000" dirty="0"/>
          </a:p>
        </p:txBody>
      </p:sp>
      <p:sp>
        <p:nvSpPr>
          <p:cNvPr id="15" name="Shape 11"/>
          <p:cNvSpPr/>
          <p:nvPr/>
        </p:nvSpPr>
        <p:spPr>
          <a:xfrm>
            <a:off x="3643884" y="1636776"/>
            <a:ext cx="169164" cy="0"/>
          </a:xfrm>
          <a:prstGeom prst="line">
            <a:avLst/>
          </a:prstGeom>
          <a:noFill/>
          <a:ln w="19050">
            <a:solidFill>
              <a:srgbClr val="1F7A55"/>
            </a:solidFill>
            <a:prstDash val="solid"/>
            <a:tailEnd type="triangle"/>
          </a:ln>
        </p:spPr>
      </p:sp>
      <p:sp>
        <p:nvSpPr>
          <p:cNvPr id="16" name="Shape 12"/>
          <p:cNvSpPr/>
          <p:nvPr/>
        </p:nvSpPr>
        <p:spPr>
          <a:xfrm>
            <a:off x="3831336" y="1234440"/>
            <a:ext cx="1481328" cy="1645920"/>
          </a:xfrm>
          <a:prstGeom prst="roundRect">
            <a:avLst>
              <a:gd name="adj" fmla="val 4938"/>
            </a:avLst>
          </a:prstGeom>
          <a:solidFill>
            <a:srgbClr val="E6F2EC"/>
          </a:solidFill>
          <a:ln w="6350">
            <a:solidFill>
              <a:srgbClr val="E6F2EC"/>
            </a:solidFill>
            <a:prstDash val="solid"/>
          </a:ln>
        </p:spPr>
      </p:sp>
      <p:sp>
        <p:nvSpPr>
          <p:cNvPr id="17" name="Shape 13"/>
          <p:cNvSpPr/>
          <p:nvPr/>
        </p:nvSpPr>
        <p:spPr>
          <a:xfrm>
            <a:off x="4306824" y="1371600"/>
            <a:ext cx="530352" cy="530352"/>
          </a:xfrm>
          <a:prstGeom prst="ellipse">
            <a:avLst/>
          </a:prstGeom>
          <a:solidFill>
            <a:srgbClr val="1F7A55"/>
          </a:solidFill>
          <a:ln w="6350">
            <a:solidFill>
              <a:srgbClr val="1F7A55"/>
            </a:solidFill>
            <a:prstDash val="solid"/>
          </a:ln>
        </p:spPr>
      </p:sp>
      <p:pic>
        <p:nvPicPr>
          <p:cNvPr id="18" name="Image 2" descr="preencoded.png">    </p:cNvPr>
          <p:cNvPicPr>
            <a:picLocks noChangeAspect="1"/>
          </p:cNvPicPr>
          <p:nvPr/>
        </p:nvPicPr>
        <p:blipFill>
          <a:blip r:embed="rId3"/>
          <a:stretch>
            <a:fillRect/>
          </a:stretch>
        </p:blipFill>
        <p:spPr>
          <a:xfrm>
            <a:off x="4426153" y="1490929"/>
            <a:ext cx="291694" cy="291694"/>
          </a:xfrm>
          <a:prstGeom prst="rect">
            <a:avLst/>
          </a:prstGeom>
        </p:spPr>
      </p:pic>
      <p:sp>
        <p:nvSpPr>
          <p:cNvPr id="19" name="Text 14"/>
          <p:cNvSpPr txBox="1"/>
          <p:nvPr/>
        </p:nvSpPr>
        <p:spPr>
          <a:xfrm>
            <a:off x="3904488" y="1984248"/>
            <a:ext cx="1335024" cy="292608"/>
          </a:xfrm>
          <a:prstGeom prst="rect">
            <a:avLst/>
          </a:prstGeom>
          <a:noFill/>
          <a:ln/>
        </p:spPr>
        <p:txBody>
          <a:bodyPr wrap="square" lIns="0" tIns="0" rIns="0" bIns="0" rtlCol="0" anchor="t"/>
          <a:lstStyle/>
          <a:p>
            <a:pPr algn="ctr" indent="0" marL="0">
              <a:buNone/>
            </a:pPr>
            <a:r>
              <a:rPr lang="en-US" sz="1200" b="1" dirty="0">
                <a:solidFill>
                  <a:srgbClr val="0B3D2E"/>
                </a:solidFill>
                <a:latin typeface="Calibri" pitchFamily="34" charset="0"/>
                <a:ea typeface="Calibri" pitchFamily="34" charset="-122"/>
                <a:cs typeface="Calibri" pitchFamily="34" charset="-120"/>
              </a:rPr>
              <a:t>Neighbour context</a:t>
            </a:r>
            <a:endParaRPr lang="en-US" sz="1200" dirty="0"/>
          </a:p>
        </p:txBody>
      </p:sp>
      <p:sp>
        <p:nvSpPr>
          <p:cNvPr id="20" name="Text 15"/>
          <p:cNvSpPr txBox="1"/>
          <p:nvPr/>
        </p:nvSpPr>
        <p:spPr>
          <a:xfrm>
            <a:off x="3941064" y="2286000"/>
            <a:ext cx="1261872" cy="502920"/>
          </a:xfrm>
          <a:prstGeom prst="rect">
            <a:avLst/>
          </a:prstGeom>
          <a:noFill/>
          <a:ln/>
        </p:spPr>
        <p:txBody>
          <a:bodyPr wrap="square" lIns="0" tIns="0" rIns="0" bIns="0" rtlCol="0" anchor="t"/>
          <a:lstStyle/>
          <a:p>
            <a:pPr algn="ctr" indent="0" marL="0">
              <a:buNone/>
            </a:pPr>
            <a:r>
              <a:rPr lang="en-US" sz="1000" dirty="0">
                <a:solidFill>
                  <a:srgbClr val="5B6B64"/>
                </a:solidFill>
                <a:latin typeface="Calibri" pitchFamily="34" charset="0"/>
                <a:ea typeface="Calibri" pitchFamily="34" charset="-122"/>
                <a:cs typeface="Calibri" pitchFamily="34" charset="-120"/>
              </a:rPr>
              <a:t>Add the chunks either side</a:t>
            </a:r>
            <a:endParaRPr lang="en-US" sz="1000" dirty="0"/>
          </a:p>
        </p:txBody>
      </p:sp>
      <p:sp>
        <p:nvSpPr>
          <p:cNvPr id="21" name="Shape 16"/>
          <p:cNvSpPr/>
          <p:nvPr/>
        </p:nvSpPr>
        <p:spPr>
          <a:xfrm>
            <a:off x="5330952" y="1636776"/>
            <a:ext cx="169164" cy="0"/>
          </a:xfrm>
          <a:prstGeom prst="line">
            <a:avLst/>
          </a:prstGeom>
          <a:noFill/>
          <a:ln w="19050">
            <a:solidFill>
              <a:srgbClr val="1F7A55"/>
            </a:solidFill>
            <a:prstDash val="solid"/>
            <a:tailEnd type="triangle"/>
          </a:ln>
        </p:spPr>
      </p:sp>
      <p:sp>
        <p:nvSpPr>
          <p:cNvPr id="22" name="Shape 17"/>
          <p:cNvSpPr/>
          <p:nvPr/>
        </p:nvSpPr>
        <p:spPr>
          <a:xfrm>
            <a:off x="5518404" y="1234440"/>
            <a:ext cx="1481328" cy="1645920"/>
          </a:xfrm>
          <a:prstGeom prst="roundRect">
            <a:avLst>
              <a:gd name="adj" fmla="val 4938"/>
            </a:avLst>
          </a:prstGeom>
          <a:solidFill>
            <a:srgbClr val="E6F2EC"/>
          </a:solidFill>
          <a:ln w="6350">
            <a:solidFill>
              <a:srgbClr val="E6F2EC"/>
            </a:solidFill>
            <a:prstDash val="solid"/>
          </a:ln>
        </p:spPr>
      </p:sp>
      <p:sp>
        <p:nvSpPr>
          <p:cNvPr id="23" name="Shape 18"/>
          <p:cNvSpPr/>
          <p:nvPr/>
        </p:nvSpPr>
        <p:spPr>
          <a:xfrm>
            <a:off x="5993892" y="1371600"/>
            <a:ext cx="530352" cy="530352"/>
          </a:xfrm>
          <a:prstGeom prst="ellipse">
            <a:avLst/>
          </a:prstGeom>
          <a:solidFill>
            <a:srgbClr val="1F7A55"/>
          </a:solidFill>
          <a:ln w="6350">
            <a:solidFill>
              <a:srgbClr val="1F7A55"/>
            </a:solidFill>
            <a:prstDash val="solid"/>
          </a:ln>
        </p:spPr>
      </p:sp>
      <p:pic>
        <p:nvPicPr>
          <p:cNvPr id="24" name="Image 3" descr="preencoded.png">    </p:cNvPr>
          <p:cNvPicPr>
            <a:picLocks noChangeAspect="1"/>
          </p:cNvPicPr>
          <p:nvPr/>
        </p:nvPicPr>
        <p:blipFill>
          <a:blip r:embed="rId4"/>
          <a:stretch>
            <a:fillRect/>
          </a:stretch>
        </p:blipFill>
        <p:spPr>
          <a:xfrm>
            <a:off x="6113221" y="1490929"/>
            <a:ext cx="291694" cy="291694"/>
          </a:xfrm>
          <a:prstGeom prst="rect">
            <a:avLst/>
          </a:prstGeom>
        </p:spPr>
      </p:pic>
      <p:sp>
        <p:nvSpPr>
          <p:cNvPr id="25" name="Text 19"/>
          <p:cNvSpPr txBox="1"/>
          <p:nvPr/>
        </p:nvSpPr>
        <p:spPr>
          <a:xfrm>
            <a:off x="5591556" y="1984248"/>
            <a:ext cx="1335024" cy="292608"/>
          </a:xfrm>
          <a:prstGeom prst="rect">
            <a:avLst/>
          </a:prstGeom>
          <a:noFill/>
          <a:ln/>
        </p:spPr>
        <p:txBody>
          <a:bodyPr wrap="square" lIns="0" tIns="0" rIns="0" bIns="0" rtlCol="0" anchor="t"/>
          <a:lstStyle/>
          <a:p>
            <a:pPr algn="ctr" indent="0" marL="0">
              <a:buNone/>
            </a:pPr>
            <a:r>
              <a:rPr lang="en-US" sz="1200" b="1" dirty="0">
                <a:solidFill>
                  <a:srgbClr val="0B3D2E"/>
                </a:solidFill>
                <a:latin typeface="Calibri" pitchFamily="34" charset="0"/>
                <a:ea typeface="Calibri" pitchFamily="34" charset="-122"/>
                <a:cs typeface="Calibri" pitchFamily="34" charset="-120"/>
              </a:rPr>
              <a:t>Grounded answer</a:t>
            </a:r>
            <a:endParaRPr lang="en-US" sz="1200" dirty="0"/>
          </a:p>
        </p:txBody>
      </p:sp>
      <p:sp>
        <p:nvSpPr>
          <p:cNvPr id="26" name="Text 20"/>
          <p:cNvSpPr txBox="1"/>
          <p:nvPr/>
        </p:nvSpPr>
        <p:spPr>
          <a:xfrm>
            <a:off x="5628132" y="2286000"/>
            <a:ext cx="1261872" cy="502920"/>
          </a:xfrm>
          <a:prstGeom prst="rect">
            <a:avLst/>
          </a:prstGeom>
          <a:noFill/>
          <a:ln/>
        </p:spPr>
        <p:txBody>
          <a:bodyPr wrap="square" lIns="0" tIns="0" rIns="0" bIns="0" rtlCol="0" anchor="t"/>
          <a:lstStyle/>
          <a:p>
            <a:pPr algn="ctr" indent="0" marL="0">
              <a:buNone/>
            </a:pPr>
            <a:r>
              <a:rPr lang="en-US" sz="1000" dirty="0">
                <a:solidFill>
                  <a:srgbClr val="5B6B64"/>
                </a:solidFill>
                <a:latin typeface="Calibri" pitchFamily="34" charset="0"/>
                <a:ea typeface="Calibri" pitchFamily="34" charset="-122"/>
                <a:cs typeface="Calibri" pitchFamily="34" charset="-120"/>
              </a:rPr>
              <a:t>Gemini, from passages only</a:t>
            </a:r>
            <a:endParaRPr lang="en-US" sz="1000" dirty="0"/>
          </a:p>
        </p:txBody>
      </p:sp>
      <p:sp>
        <p:nvSpPr>
          <p:cNvPr id="27" name="Shape 21"/>
          <p:cNvSpPr/>
          <p:nvPr/>
        </p:nvSpPr>
        <p:spPr>
          <a:xfrm>
            <a:off x="7018020" y="1636776"/>
            <a:ext cx="169164" cy="0"/>
          </a:xfrm>
          <a:prstGeom prst="line">
            <a:avLst/>
          </a:prstGeom>
          <a:noFill/>
          <a:ln w="19050">
            <a:solidFill>
              <a:srgbClr val="1F7A55"/>
            </a:solidFill>
            <a:prstDash val="solid"/>
            <a:tailEnd type="triangle"/>
          </a:ln>
        </p:spPr>
      </p:sp>
      <p:sp>
        <p:nvSpPr>
          <p:cNvPr id="28" name="Shape 22"/>
          <p:cNvSpPr/>
          <p:nvPr/>
        </p:nvSpPr>
        <p:spPr>
          <a:xfrm>
            <a:off x="7205472" y="1234440"/>
            <a:ext cx="1481328" cy="1645920"/>
          </a:xfrm>
          <a:prstGeom prst="roundRect">
            <a:avLst>
              <a:gd name="adj" fmla="val 4938"/>
            </a:avLst>
          </a:prstGeom>
          <a:solidFill>
            <a:srgbClr val="E6F2EC"/>
          </a:solidFill>
          <a:ln w="6350">
            <a:solidFill>
              <a:srgbClr val="E6F2EC"/>
            </a:solidFill>
            <a:prstDash val="solid"/>
          </a:ln>
        </p:spPr>
      </p:sp>
      <p:sp>
        <p:nvSpPr>
          <p:cNvPr id="29" name="Shape 23"/>
          <p:cNvSpPr/>
          <p:nvPr/>
        </p:nvSpPr>
        <p:spPr>
          <a:xfrm>
            <a:off x="7680960" y="1371600"/>
            <a:ext cx="530352" cy="530352"/>
          </a:xfrm>
          <a:prstGeom prst="ellipse">
            <a:avLst/>
          </a:prstGeom>
          <a:solidFill>
            <a:srgbClr val="1F7A55"/>
          </a:solidFill>
          <a:ln w="6350">
            <a:solidFill>
              <a:srgbClr val="1F7A55"/>
            </a:solidFill>
            <a:prstDash val="solid"/>
          </a:ln>
        </p:spPr>
      </p:sp>
      <p:pic>
        <p:nvPicPr>
          <p:cNvPr id="30" name="Image 4" descr="preencoded.png">    </p:cNvPr>
          <p:cNvPicPr>
            <a:picLocks noChangeAspect="1"/>
          </p:cNvPicPr>
          <p:nvPr/>
        </p:nvPicPr>
        <p:blipFill>
          <a:blip r:embed="rId5"/>
          <a:stretch>
            <a:fillRect/>
          </a:stretch>
        </p:blipFill>
        <p:spPr>
          <a:xfrm>
            <a:off x="7800289" y="1490929"/>
            <a:ext cx="291694" cy="291694"/>
          </a:xfrm>
          <a:prstGeom prst="rect">
            <a:avLst/>
          </a:prstGeom>
        </p:spPr>
      </p:pic>
      <p:sp>
        <p:nvSpPr>
          <p:cNvPr id="31" name="Text 24"/>
          <p:cNvSpPr txBox="1"/>
          <p:nvPr/>
        </p:nvSpPr>
        <p:spPr>
          <a:xfrm>
            <a:off x="7278624" y="1984248"/>
            <a:ext cx="1335024" cy="292608"/>
          </a:xfrm>
          <a:prstGeom prst="rect">
            <a:avLst/>
          </a:prstGeom>
          <a:noFill/>
          <a:ln/>
        </p:spPr>
        <p:txBody>
          <a:bodyPr wrap="square" lIns="0" tIns="0" rIns="0" bIns="0" rtlCol="0" anchor="t"/>
          <a:lstStyle/>
          <a:p>
            <a:pPr algn="ctr" indent="0" marL="0">
              <a:buNone/>
            </a:pPr>
            <a:r>
              <a:rPr lang="en-US" sz="1200" b="1" dirty="0">
                <a:solidFill>
                  <a:srgbClr val="0B3D2E"/>
                </a:solidFill>
                <a:latin typeface="Calibri" pitchFamily="34" charset="0"/>
                <a:ea typeface="Calibri" pitchFamily="34" charset="-122"/>
                <a:cs typeface="Calibri" pitchFamily="34" charset="-120"/>
              </a:rPr>
              <a:t>Cited sources</a:t>
            </a:r>
            <a:endParaRPr lang="en-US" sz="1200" dirty="0"/>
          </a:p>
        </p:txBody>
      </p:sp>
      <p:sp>
        <p:nvSpPr>
          <p:cNvPr id="32" name="Text 25"/>
          <p:cNvSpPr txBox="1"/>
          <p:nvPr/>
        </p:nvSpPr>
        <p:spPr>
          <a:xfrm>
            <a:off x="7315200" y="2286000"/>
            <a:ext cx="1261872" cy="502920"/>
          </a:xfrm>
          <a:prstGeom prst="rect">
            <a:avLst/>
          </a:prstGeom>
          <a:noFill/>
          <a:ln/>
        </p:spPr>
        <p:txBody>
          <a:bodyPr wrap="square" lIns="0" tIns="0" rIns="0" bIns="0" rtlCol="0" anchor="t"/>
          <a:lstStyle/>
          <a:p>
            <a:pPr algn="ctr" indent="0" marL="0">
              <a:buNone/>
            </a:pPr>
            <a:r>
              <a:rPr lang="en-US" sz="1000" dirty="0">
                <a:solidFill>
                  <a:srgbClr val="5B6B64"/>
                </a:solidFill>
                <a:latin typeface="Calibri" pitchFamily="34" charset="0"/>
                <a:ea typeface="Calibri" pitchFamily="34" charset="-122"/>
                <a:cs typeface="Calibri" pitchFamily="34" charset="-120"/>
              </a:rPr>
              <a:t>Every [n] resolves to a passage</a:t>
            </a:r>
            <a:endParaRPr lang="en-US" sz="1000" dirty="0"/>
          </a:p>
        </p:txBody>
      </p:sp>
      <p:sp>
        <p:nvSpPr>
          <p:cNvPr id="33" name="Shape 26"/>
          <p:cNvSpPr/>
          <p:nvPr/>
        </p:nvSpPr>
        <p:spPr>
          <a:xfrm>
            <a:off x="457200" y="3108960"/>
            <a:ext cx="4023360" cy="1645920"/>
          </a:xfrm>
          <a:prstGeom prst="roundRect">
            <a:avLst>
              <a:gd name="adj" fmla="val 4444"/>
            </a:avLst>
          </a:prstGeom>
          <a:solidFill>
            <a:srgbClr val="F3F8F5"/>
          </a:solidFill>
          <a:ln w="9525">
            <a:solidFill>
              <a:srgbClr val="C9DDD2"/>
            </a:solidFill>
            <a:prstDash val="solid"/>
          </a:ln>
        </p:spPr>
      </p:sp>
      <p:sp>
        <p:nvSpPr>
          <p:cNvPr id="34" name="Text 27"/>
          <p:cNvSpPr txBox="1"/>
          <p:nvPr/>
        </p:nvSpPr>
        <p:spPr>
          <a:xfrm>
            <a:off x="658368" y="3218688"/>
            <a:ext cx="3657600" cy="274320"/>
          </a:xfrm>
          <a:prstGeom prst="rect">
            <a:avLst/>
          </a:prstGeom>
          <a:noFill/>
          <a:ln/>
        </p:spPr>
        <p:txBody>
          <a:bodyPr wrap="square" lIns="0" tIns="0" rIns="0" bIns="0" rtlCol="0" anchor="t"/>
          <a:lstStyle/>
          <a:p>
            <a:pPr indent="0" marL="0">
              <a:buNone/>
            </a:pPr>
            <a:r>
              <a:rPr lang="en-US" sz="1300" b="1" dirty="0">
                <a:solidFill>
                  <a:srgbClr val="0B3D2E"/>
                </a:solidFill>
                <a:latin typeface="Calibri" pitchFamily="34" charset="0"/>
                <a:ea typeface="Calibri" pitchFamily="34" charset="-122"/>
                <a:cs typeface="Calibri" pitchFamily="34" charset="-120"/>
              </a:rPr>
              <a:t>The prompt's four rules</a:t>
            </a:r>
            <a:endParaRPr lang="en-US" sz="1300" dirty="0"/>
          </a:p>
        </p:txBody>
      </p:sp>
      <p:sp>
        <p:nvSpPr>
          <p:cNvPr id="35" name="Text 28"/>
          <p:cNvSpPr txBox="1"/>
          <p:nvPr/>
        </p:nvSpPr>
        <p:spPr>
          <a:xfrm>
            <a:off x="658368" y="3529584"/>
            <a:ext cx="3703320" cy="11887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rgbClr val="1C2B25"/>
                </a:solidFill>
                <a:latin typeface="Calibri" pitchFamily="34" charset="0"/>
                <a:ea typeface="Calibri" pitchFamily="34" charset="-122"/>
                <a:cs typeface="Calibri" pitchFamily="34" charset="-120"/>
              </a:rPr>
              <a:t>Answer only from the numbered passages</a:t>
            </a:r>
            <a:endParaRPr lang="en-US" sz="1100" dirty="0"/>
          </a:p>
          <a:p>
            <a:pPr marL="342900" indent="-342900">
              <a:spcAft>
                <a:spcPts val="300"/>
              </a:spcAft>
              <a:buSzPct val="100000"/>
              <a:buFont typeface="+mj-lt"/>
              <a:buAutoNum type="arabicPeriod" startAt="1"/>
            </a:pPr>
            <a:r>
              <a:rPr lang="en-US" sz="1100" dirty="0">
                <a:solidFill>
                  <a:srgbClr val="1C2B25"/>
                </a:solidFill>
                <a:latin typeface="Calibri" pitchFamily="34" charset="0"/>
                <a:ea typeface="Calibri" pitchFamily="34" charset="-122"/>
                <a:cs typeface="Calibri" pitchFamily="34" charset="-120"/>
              </a:rPr>
              <a:t>Cite each claim by number, like [2]</a:t>
            </a:r>
            <a:endParaRPr lang="en-US" sz="1100" dirty="0"/>
          </a:p>
          <a:p>
            <a:pPr marL="342900" indent="-342900">
              <a:spcAft>
                <a:spcPts val="300"/>
              </a:spcAft>
              <a:buSzPct val="100000"/>
              <a:buFont typeface="+mj-lt"/>
              <a:buAutoNum type="arabicPeriod" startAt="1"/>
            </a:pPr>
            <a:r>
              <a:rPr lang="en-US" sz="1100" dirty="0">
                <a:solidFill>
                  <a:srgbClr val="1C2B25"/>
                </a:solidFill>
                <a:latin typeface="Calibri" pitchFamily="34" charset="0"/>
                <a:ea typeface="Calibri" pitchFamily="34" charset="-122"/>
                <a:cs typeface="Calibri" pitchFamily="34" charset="-120"/>
              </a:rPr>
              <a:t>Otherwise reply: "I could not find this in the available documents."</a:t>
            </a:r>
            <a:endParaRPr lang="en-US" sz="1100" dirty="0"/>
          </a:p>
          <a:p>
            <a:pPr marL="342900" indent="-342900">
              <a:spcAft>
                <a:spcPts val="300"/>
              </a:spcAft>
              <a:buSzPct val="100000"/>
              <a:buFont typeface="+mj-lt"/>
              <a:buAutoNum type="arabicPeriod" startAt="1"/>
            </a:pPr>
            <a:r>
              <a:rPr lang="en-US" sz="1100" dirty="0">
                <a:solidFill>
                  <a:srgbClr val="1C2B25"/>
                </a:solidFill>
                <a:latin typeface="Calibri" pitchFamily="34" charset="0"/>
                <a:ea typeface="Calibri" pitchFamily="34" charset="-122"/>
                <a:cs typeface="Calibri" pitchFamily="34" charset="-120"/>
              </a:rPr>
              <a:t>Flag any answer that relies on an OCR'd scan</a:t>
            </a:r>
            <a:endParaRPr lang="en-US" sz="1100" dirty="0"/>
          </a:p>
        </p:txBody>
      </p:sp>
      <p:sp>
        <p:nvSpPr>
          <p:cNvPr id="36" name="Shape 29"/>
          <p:cNvSpPr/>
          <p:nvPr/>
        </p:nvSpPr>
        <p:spPr>
          <a:xfrm>
            <a:off x="4663440" y="3108960"/>
            <a:ext cx="4023360" cy="1645920"/>
          </a:xfrm>
          <a:prstGeom prst="roundRect">
            <a:avLst>
              <a:gd name="adj" fmla="val 4444"/>
            </a:avLst>
          </a:prstGeom>
          <a:solidFill>
            <a:srgbClr val="0B3D2E"/>
          </a:solidFill>
          <a:ln w="6350">
            <a:solidFill>
              <a:srgbClr val="0B3D2E"/>
            </a:solidFill>
            <a:prstDash val="solid"/>
          </a:ln>
        </p:spPr>
      </p:sp>
      <p:sp>
        <p:nvSpPr>
          <p:cNvPr id="37" name="Text 30"/>
          <p:cNvSpPr txBox="1"/>
          <p:nvPr/>
        </p:nvSpPr>
        <p:spPr>
          <a:xfrm>
            <a:off x="4864608" y="3218688"/>
            <a:ext cx="3657600" cy="274320"/>
          </a:xfrm>
          <a:prstGeom prst="rect">
            <a:avLst/>
          </a:prstGeom>
          <a:noFill/>
          <a:ln/>
        </p:spPr>
        <p:txBody>
          <a:bodyPr wrap="square" lIns="0" tIns="0" rIns="0" bIns="0" rtlCol="0" anchor="t"/>
          <a:lstStyle/>
          <a:p>
            <a:pPr indent="0" marL="0">
              <a:buNone/>
            </a:pPr>
            <a:r>
              <a:rPr lang="en-US" sz="1300" b="1" dirty="0">
                <a:solidFill>
                  <a:srgbClr val="D99A1E"/>
                </a:solidFill>
                <a:latin typeface="Calibri" pitchFamily="34" charset="0"/>
                <a:ea typeface="Calibri" pitchFamily="34" charset="-122"/>
                <a:cs typeface="Calibri" pitchFamily="34" charset="-120"/>
              </a:rPr>
              <a:t>Beyond the top 3</a:t>
            </a:r>
            <a:endParaRPr lang="en-US" sz="1300" dirty="0"/>
          </a:p>
        </p:txBody>
      </p:sp>
      <p:sp>
        <p:nvSpPr>
          <p:cNvPr id="38" name="Text 31"/>
          <p:cNvSpPr txBox="1"/>
          <p:nvPr/>
        </p:nvSpPr>
        <p:spPr>
          <a:xfrm>
            <a:off x="4864608" y="3529584"/>
            <a:ext cx="3657600" cy="7315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brief asks for the top three sources. The app shows every passage the answer actually cited — one to four — with the text the model saw, so each claim can be checked on the spot.</a:t>
            </a:r>
            <a:endParaRPr lang="en-US" sz="1100" dirty="0"/>
          </a:p>
        </p:txBody>
      </p:sp>
      <p:sp>
        <p:nvSpPr>
          <p:cNvPr id="39" name="Text 32"/>
          <p:cNvSpPr txBox="1"/>
          <p:nvPr/>
        </p:nvSpPr>
        <p:spPr>
          <a:xfrm>
            <a:off x="4864608" y="4224528"/>
            <a:ext cx="3657600" cy="457200"/>
          </a:xfrm>
          <a:prstGeom prst="rect">
            <a:avLst/>
          </a:prstGeom>
          <a:noFill/>
          <a:ln/>
        </p:spPr>
        <p:txBody>
          <a:bodyPr wrap="square" lIns="0" tIns="0" rIns="0" bIns="0" rtlCol="0" anchor="t"/>
          <a:lstStyle/>
          <a:p>
            <a:pPr indent="0" marL="0">
              <a:buNone/>
            </a:pPr>
            <a:r>
              <a:rPr lang="en-US" sz="1050" i="1" dirty="0">
                <a:solidFill>
                  <a:srgbClr val="E6F2EC"/>
                </a:solidFill>
                <a:latin typeface="Calibri" pitchFamily="34" charset="0"/>
                <a:ea typeface="Calibri" pitchFamily="34" charset="-122"/>
                <a:cs typeface="Calibri" pitchFamily="34" charset="-120"/>
              </a:rPr>
              <a:t>If Gemini's primary model is busy or out of free-tier quota, it falls back to a lighter model and says which one answered.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STRETCH GOAL  ·  OPTION 2</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A chat app that shows its sources</a:t>
            </a:r>
            <a:endParaRPr lang="en-US" sz="2800" dirty="0"/>
          </a:p>
        </p:txBody>
      </p:sp>
      <p:sp>
        <p:nvSpPr>
          <p:cNvPr id="4" name="Shape 2"/>
          <p:cNvSpPr/>
          <p:nvPr/>
        </p:nvSpPr>
        <p:spPr>
          <a:xfrm>
            <a:off x="457200" y="1188720"/>
            <a:ext cx="4023360" cy="2514600"/>
          </a:xfrm>
          <a:prstGeom prst="roundRect">
            <a:avLst>
              <a:gd name="adj" fmla="val 2909"/>
            </a:avLst>
          </a:prstGeom>
          <a:solidFill>
            <a:srgbClr val="F7FAF8"/>
          </a:solidFill>
          <a:ln w="15875">
            <a:solidFill>
              <a:srgbClr val="1F7A55"/>
            </a:solidFill>
            <a:prstDash val="dash"/>
          </a:ln>
        </p:spPr>
      </p:sp>
      <p:sp>
        <p:nvSpPr>
          <p:cNvPr id="5" name="Text 3"/>
          <p:cNvSpPr txBox="1"/>
          <p:nvPr/>
        </p:nvSpPr>
        <p:spPr>
          <a:xfrm>
            <a:off x="457200" y="2011680"/>
            <a:ext cx="4023360" cy="274320"/>
          </a:xfrm>
          <a:prstGeom prst="rect">
            <a:avLst/>
          </a:prstGeom>
          <a:noFill/>
          <a:ln/>
        </p:spPr>
        <p:txBody>
          <a:bodyPr wrap="square" lIns="0" tIns="0" rIns="0" bIns="0" rtlCol="0" anchor="t"/>
          <a:lstStyle/>
          <a:p>
            <a:pPr algn="ctr" indent="0" marL="0">
              <a:buNone/>
            </a:pPr>
            <a:r>
              <a:rPr lang="en-US" sz="1100" b="1" spc="200" kern="0" dirty="0">
                <a:solidFill>
                  <a:srgbClr val="1F7A55"/>
                </a:solidFill>
                <a:latin typeface="Calibri" pitchFamily="34" charset="0"/>
                <a:ea typeface="Calibri" pitchFamily="34" charset="-122"/>
                <a:cs typeface="Calibri" pitchFamily="34" charset="-120"/>
              </a:rPr>
              <a:t>SCREENSHOT</a:t>
            </a:r>
            <a:endParaRPr lang="en-US" sz="1100" dirty="0"/>
          </a:p>
        </p:txBody>
      </p:sp>
      <p:sp>
        <p:nvSpPr>
          <p:cNvPr id="6" name="Text 4"/>
          <p:cNvSpPr txBox="1"/>
          <p:nvPr/>
        </p:nvSpPr>
        <p:spPr>
          <a:xfrm>
            <a:off x="822960" y="2313432"/>
            <a:ext cx="3291840" cy="548640"/>
          </a:xfrm>
          <a:prstGeom prst="rect">
            <a:avLst/>
          </a:prstGeom>
          <a:noFill/>
          <a:ln/>
        </p:spPr>
        <p:txBody>
          <a:bodyPr wrap="square" lIns="0" tIns="0" rIns="0" bIns="0" rtlCol="0" anchor="t"/>
          <a:lstStyle/>
          <a:p>
            <a:pPr algn="ctr" indent="0" marL="0">
              <a:buNone/>
            </a:pPr>
            <a:r>
              <a:rPr lang="en-US" sz="1150" dirty="0">
                <a:solidFill>
                  <a:srgbClr val="5B6B64"/>
                </a:solidFill>
                <a:latin typeface="Calibri" pitchFamily="34" charset="0"/>
                <a:ea typeface="Calibri" pitchFamily="34" charset="-122"/>
                <a:cs typeface="Calibri" pitchFamily="34" charset="-120"/>
              </a:rPr>
              <a:t>An answered question with a source panel open</a:t>
            </a:r>
            <a:endParaRPr lang="en-US" sz="1150" dirty="0"/>
          </a:p>
        </p:txBody>
      </p:sp>
      <p:sp>
        <p:nvSpPr>
          <p:cNvPr id="7" name="Text 5"/>
          <p:cNvSpPr txBox="1"/>
          <p:nvPr/>
        </p:nvSpPr>
        <p:spPr>
          <a:xfrm>
            <a:off x="457200" y="3840480"/>
            <a:ext cx="4023360" cy="274320"/>
          </a:xfrm>
          <a:prstGeom prst="rect">
            <a:avLst/>
          </a:prstGeom>
          <a:noFill/>
          <a:ln/>
        </p:spPr>
        <p:txBody>
          <a:bodyPr wrap="square" lIns="0" tIns="0" rIns="0" bIns="0" rtlCol="0" anchor="t"/>
          <a:lstStyle/>
          <a:p>
            <a:pPr algn="ctr" indent="0" marL="0">
              <a:buNone/>
            </a:pPr>
            <a:r>
              <a:rPr lang="en-US" sz="1100" b="1" dirty="0">
                <a:solidFill>
                  <a:srgbClr val="1C2B25"/>
                </a:solidFill>
                <a:latin typeface="Calibri" pitchFamily="34" charset="0"/>
                <a:ea typeface="Calibri" pitchFamily="34" charset="-122"/>
                <a:cs typeface="Calibri" pitchFamily="34" charset="-120"/>
              </a:rPr>
              <a:t>A grounded answer with its citations</a:t>
            </a:r>
            <a:endParaRPr lang="en-US" sz="1100" dirty="0"/>
          </a:p>
        </p:txBody>
      </p:sp>
      <p:sp>
        <p:nvSpPr>
          <p:cNvPr id="8" name="Shape 6"/>
          <p:cNvSpPr/>
          <p:nvPr/>
        </p:nvSpPr>
        <p:spPr>
          <a:xfrm>
            <a:off x="4663440" y="1188720"/>
            <a:ext cx="4023360" cy="2514600"/>
          </a:xfrm>
          <a:prstGeom prst="roundRect">
            <a:avLst>
              <a:gd name="adj" fmla="val 2909"/>
            </a:avLst>
          </a:prstGeom>
          <a:solidFill>
            <a:srgbClr val="F7FAF8"/>
          </a:solidFill>
          <a:ln w="15875">
            <a:solidFill>
              <a:srgbClr val="1F7A55"/>
            </a:solidFill>
            <a:prstDash val="dash"/>
          </a:ln>
        </p:spPr>
      </p:sp>
      <p:sp>
        <p:nvSpPr>
          <p:cNvPr id="9" name="Text 7"/>
          <p:cNvSpPr txBox="1"/>
          <p:nvPr/>
        </p:nvSpPr>
        <p:spPr>
          <a:xfrm>
            <a:off x="4663440" y="2011680"/>
            <a:ext cx="4023360" cy="274320"/>
          </a:xfrm>
          <a:prstGeom prst="rect">
            <a:avLst/>
          </a:prstGeom>
          <a:noFill/>
          <a:ln/>
        </p:spPr>
        <p:txBody>
          <a:bodyPr wrap="square" lIns="0" tIns="0" rIns="0" bIns="0" rtlCol="0" anchor="t"/>
          <a:lstStyle/>
          <a:p>
            <a:pPr algn="ctr" indent="0" marL="0">
              <a:buNone/>
            </a:pPr>
            <a:r>
              <a:rPr lang="en-US" sz="1100" b="1" spc="200" kern="0" dirty="0">
                <a:solidFill>
                  <a:srgbClr val="1F7A55"/>
                </a:solidFill>
                <a:latin typeface="Calibri" pitchFamily="34" charset="0"/>
                <a:ea typeface="Calibri" pitchFamily="34" charset="-122"/>
                <a:cs typeface="Calibri" pitchFamily="34" charset="-120"/>
              </a:rPr>
              <a:t>SCREENSHOT</a:t>
            </a:r>
            <a:endParaRPr lang="en-US" sz="1100" dirty="0"/>
          </a:p>
        </p:txBody>
      </p:sp>
      <p:sp>
        <p:nvSpPr>
          <p:cNvPr id="10" name="Text 8"/>
          <p:cNvSpPr txBox="1"/>
          <p:nvPr/>
        </p:nvSpPr>
        <p:spPr>
          <a:xfrm>
            <a:off x="5029200" y="2313432"/>
            <a:ext cx="3291840" cy="548640"/>
          </a:xfrm>
          <a:prstGeom prst="rect">
            <a:avLst/>
          </a:prstGeom>
          <a:noFill/>
          <a:ln/>
        </p:spPr>
        <p:txBody>
          <a:bodyPr wrap="square" lIns="0" tIns="0" rIns="0" bIns="0" rtlCol="0" anchor="t"/>
          <a:lstStyle/>
          <a:p>
            <a:pPr algn="ctr" indent="0" marL="0">
              <a:buNone/>
            </a:pPr>
            <a:r>
              <a:rPr lang="en-US" sz="1150" dirty="0">
                <a:solidFill>
                  <a:srgbClr val="5B6B64"/>
                </a:solidFill>
                <a:latin typeface="Calibri" pitchFamily="34" charset="0"/>
                <a:ea typeface="Calibri" pitchFamily="34" charset="-122"/>
                <a:cs typeface="Calibri" pitchFamily="34" charset="-120"/>
              </a:rPr>
              <a:t>A refused question, e.g. minimum capital for banks in Kenya</a:t>
            </a:r>
            <a:endParaRPr lang="en-US" sz="1150" dirty="0"/>
          </a:p>
        </p:txBody>
      </p:sp>
      <p:sp>
        <p:nvSpPr>
          <p:cNvPr id="11" name="Text 9"/>
          <p:cNvSpPr txBox="1"/>
          <p:nvPr/>
        </p:nvSpPr>
        <p:spPr>
          <a:xfrm>
            <a:off x="4663440" y="3840480"/>
            <a:ext cx="4023360" cy="274320"/>
          </a:xfrm>
          <a:prstGeom prst="rect">
            <a:avLst/>
          </a:prstGeom>
          <a:noFill/>
          <a:ln/>
        </p:spPr>
        <p:txBody>
          <a:bodyPr wrap="square" lIns="0" tIns="0" rIns="0" bIns="0" rtlCol="0" anchor="t"/>
          <a:lstStyle/>
          <a:p>
            <a:pPr algn="ctr" indent="0" marL="0">
              <a:buNone/>
            </a:pPr>
            <a:r>
              <a:rPr lang="en-US" sz="1100" b="1" dirty="0">
                <a:solidFill>
                  <a:srgbClr val="1C2B25"/>
                </a:solidFill>
                <a:latin typeface="Calibri" pitchFamily="34" charset="0"/>
                <a:ea typeface="Calibri" pitchFamily="34" charset="-122"/>
                <a:cs typeface="Calibri" pitchFamily="34" charset="-120"/>
              </a:rPr>
              <a:t>An honest refusal</a:t>
            </a:r>
            <a:endParaRPr lang="en-US" sz="1100" dirty="0"/>
          </a:p>
        </p:txBody>
      </p:sp>
      <p:sp>
        <p:nvSpPr>
          <p:cNvPr id="12" name="Shape 10"/>
          <p:cNvSpPr/>
          <p:nvPr/>
        </p:nvSpPr>
        <p:spPr>
          <a:xfrm>
            <a:off x="457200" y="4297680"/>
            <a:ext cx="1920240" cy="457200"/>
          </a:xfrm>
          <a:prstGeom prst="roundRect">
            <a:avLst>
              <a:gd name="adj" fmla="val 16000"/>
            </a:avLst>
          </a:prstGeom>
          <a:solidFill>
            <a:srgbClr val="E6F2EC"/>
          </a:solidFill>
          <a:ln w="6350">
            <a:solidFill>
              <a:srgbClr val="E6F2EC"/>
            </a:solidFill>
            <a:prstDash val="solid"/>
          </a:ln>
        </p:spPr>
      </p:sp>
      <p:pic>
        <p:nvPicPr>
          <p:cNvPr id="13" name="Image 0" descr="preencoded.png">    </p:cNvPr>
          <p:cNvPicPr>
            <a:picLocks noChangeAspect="1"/>
          </p:cNvPicPr>
          <p:nvPr/>
        </p:nvPicPr>
        <p:blipFill>
          <a:blip r:embed="rId1"/>
          <a:stretch>
            <a:fillRect/>
          </a:stretch>
        </p:blipFill>
        <p:spPr>
          <a:xfrm>
            <a:off x="585216" y="4407408"/>
            <a:ext cx="237744" cy="237744"/>
          </a:xfrm>
          <a:prstGeom prst="rect">
            <a:avLst/>
          </a:prstGeom>
        </p:spPr>
      </p:pic>
      <p:sp>
        <p:nvSpPr>
          <p:cNvPr id="14" name="Text 11"/>
          <p:cNvSpPr txBox="1"/>
          <p:nvPr/>
        </p:nvSpPr>
        <p:spPr>
          <a:xfrm>
            <a:off x="896112" y="4297680"/>
            <a:ext cx="1444752" cy="457200"/>
          </a:xfrm>
          <a:prstGeom prst="rect">
            <a:avLst/>
          </a:prstGeom>
          <a:noFill/>
          <a:ln/>
        </p:spPr>
        <p:txBody>
          <a:bodyPr wrap="square" lIns="0" tIns="0" rIns="0" bIns="0" rtlCol="0" anchor="ctr"/>
          <a:lstStyle/>
          <a:p>
            <a:pPr indent="0" marL="0">
              <a:buNone/>
            </a:pPr>
            <a:r>
              <a:rPr lang="en-US" sz="1000" dirty="0">
                <a:solidFill>
                  <a:srgbClr val="1C2B25"/>
                </a:solidFill>
                <a:latin typeface="Calibri" pitchFamily="34" charset="0"/>
                <a:ea typeface="Calibri" pitchFamily="34" charset="-122"/>
                <a:cs typeface="Calibri" pitchFamily="34" charset="-120"/>
              </a:rPr>
              <a:t>Chat history per session</a:t>
            </a:r>
            <a:endParaRPr lang="en-US" sz="1000" dirty="0"/>
          </a:p>
        </p:txBody>
      </p:sp>
      <p:sp>
        <p:nvSpPr>
          <p:cNvPr id="15" name="Shape 12"/>
          <p:cNvSpPr/>
          <p:nvPr/>
        </p:nvSpPr>
        <p:spPr>
          <a:xfrm>
            <a:off x="2560320" y="4297680"/>
            <a:ext cx="1920240" cy="457200"/>
          </a:xfrm>
          <a:prstGeom prst="roundRect">
            <a:avLst>
              <a:gd name="adj" fmla="val 16000"/>
            </a:avLst>
          </a:prstGeom>
          <a:solidFill>
            <a:srgbClr val="E6F2EC"/>
          </a:solidFill>
          <a:ln w="6350">
            <a:solidFill>
              <a:srgbClr val="E6F2EC"/>
            </a:solidFill>
            <a:prstDash val="solid"/>
          </a:ln>
        </p:spPr>
      </p:sp>
      <p:pic>
        <p:nvPicPr>
          <p:cNvPr id="16" name="Image 1" descr="preencoded.png">    </p:cNvPr>
          <p:cNvPicPr>
            <a:picLocks noChangeAspect="1"/>
          </p:cNvPicPr>
          <p:nvPr/>
        </p:nvPicPr>
        <p:blipFill>
          <a:blip r:embed="rId2"/>
          <a:stretch>
            <a:fillRect/>
          </a:stretch>
        </p:blipFill>
        <p:spPr>
          <a:xfrm>
            <a:off x="2688336" y="4407408"/>
            <a:ext cx="237744" cy="237744"/>
          </a:xfrm>
          <a:prstGeom prst="rect">
            <a:avLst/>
          </a:prstGeom>
        </p:spPr>
      </p:pic>
      <p:sp>
        <p:nvSpPr>
          <p:cNvPr id="17" name="Text 13"/>
          <p:cNvSpPr txBox="1"/>
          <p:nvPr/>
        </p:nvSpPr>
        <p:spPr>
          <a:xfrm>
            <a:off x="2999232" y="4297680"/>
            <a:ext cx="1444752" cy="457200"/>
          </a:xfrm>
          <a:prstGeom prst="rect">
            <a:avLst/>
          </a:prstGeom>
          <a:noFill/>
          <a:ln/>
        </p:spPr>
        <p:txBody>
          <a:bodyPr wrap="square" lIns="0" tIns="0" rIns="0" bIns="0" rtlCol="0" anchor="ctr"/>
          <a:lstStyle/>
          <a:p>
            <a:pPr indent="0" marL="0">
              <a:buNone/>
            </a:pPr>
            <a:r>
              <a:rPr lang="en-US" sz="1000" dirty="0">
                <a:solidFill>
                  <a:srgbClr val="1C2B25"/>
                </a:solidFill>
                <a:latin typeface="Calibri" pitchFamily="34" charset="0"/>
                <a:ea typeface="Calibri" pitchFamily="34" charset="-122"/>
                <a:cs typeface="Calibri" pitchFamily="34" charset="-120"/>
              </a:rPr>
              <a:t>Passage text in each panel</a:t>
            </a:r>
            <a:endParaRPr lang="en-US" sz="1000" dirty="0"/>
          </a:p>
        </p:txBody>
      </p:sp>
      <p:sp>
        <p:nvSpPr>
          <p:cNvPr id="18" name="Shape 14"/>
          <p:cNvSpPr/>
          <p:nvPr/>
        </p:nvSpPr>
        <p:spPr>
          <a:xfrm>
            <a:off x="4663440" y="4297680"/>
            <a:ext cx="1920240" cy="457200"/>
          </a:xfrm>
          <a:prstGeom prst="roundRect">
            <a:avLst>
              <a:gd name="adj" fmla="val 16000"/>
            </a:avLst>
          </a:prstGeom>
          <a:solidFill>
            <a:srgbClr val="E6F2EC"/>
          </a:solidFill>
          <a:ln w="6350">
            <a:solidFill>
              <a:srgbClr val="E6F2EC"/>
            </a:solidFill>
            <a:prstDash val="solid"/>
          </a:ln>
        </p:spPr>
      </p:sp>
      <p:pic>
        <p:nvPicPr>
          <p:cNvPr id="19" name="Image 2" descr="preencoded.png">    </p:cNvPr>
          <p:cNvPicPr>
            <a:picLocks noChangeAspect="1"/>
          </p:cNvPicPr>
          <p:nvPr/>
        </p:nvPicPr>
        <p:blipFill>
          <a:blip r:embed="rId3"/>
          <a:stretch>
            <a:fillRect/>
          </a:stretch>
        </p:blipFill>
        <p:spPr>
          <a:xfrm>
            <a:off x="4791456" y="4407408"/>
            <a:ext cx="237744" cy="237744"/>
          </a:xfrm>
          <a:prstGeom prst="rect">
            <a:avLst/>
          </a:prstGeom>
        </p:spPr>
      </p:pic>
      <p:sp>
        <p:nvSpPr>
          <p:cNvPr id="20" name="Text 15"/>
          <p:cNvSpPr txBox="1"/>
          <p:nvPr/>
        </p:nvSpPr>
        <p:spPr>
          <a:xfrm>
            <a:off x="5102352" y="4297680"/>
            <a:ext cx="1444752" cy="457200"/>
          </a:xfrm>
          <a:prstGeom prst="rect">
            <a:avLst/>
          </a:prstGeom>
          <a:noFill/>
          <a:ln/>
        </p:spPr>
        <p:txBody>
          <a:bodyPr wrap="square" lIns="0" tIns="0" rIns="0" bIns="0" rtlCol="0" anchor="ctr"/>
          <a:lstStyle/>
          <a:p>
            <a:pPr indent="0" marL="0">
              <a:buNone/>
            </a:pPr>
            <a:r>
              <a:rPr lang="en-US" sz="1000" dirty="0">
                <a:solidFill>
                  <a:srgbClr val="1C2B25"/>
                </a:solidFill>
                <a:latin typeface="Calibri" pitchFamily="34" charset="0"/>
                <a:ea typeface="Calibri" pitchFamily="34" charset="-122"/>
                <a:cs typeface="Calibri" pitchFamily="34" charset="-120"/>
              </a:rPr>
              <a:t>Automatic model fallback</a:t>
            </a:r>
            <a:endParaRPr lang="en-US" sz="1000" dirty="0"/>
          </a:p>
        </p:txBody>
      </p:sp>
      <p:sp>
        <p:nvSpPr>
          <p:cNvPr id="21" name="Shape 16"/>
          <p:cNvSpPr/>
          <p:nvPr/>
        </p:nvSpPr>
        <p:spPr>
          <a:xfrm>
            <a:off x="6766560" y="4297680"/>
            <a:ext cx="1920240" cy="457200"/>
          </a:xfrm>
          <a:prstGeom prst="roundRect">
            <a:avLst>
              <a:gd name="adj" fmla="val 16000"/>
            </a:avLst>
          </a:prstGeom>
          <a:solidFill>
            <a:srgbClr val="E6F2EC"/>
          </a:solidFill>
          <a:ln w="6350">
            <a:solidFill>
              <a:srgbClr val="E6F2EC"/>
            </a:solidFill>
            <a:prstDash val="solid"/>
          </a:ln>
        </p:spPr>
      </p:sp>
      <p:pic>
        <p:nvPicPr>
          <p:cNvPr id="22" name="Image 3" descr="preencoded.png">    </p:cNvPr>
          <p:cNvPicPr>
            <a:picLocks noChangeAspect="1"/>
          </p:cNvPicPr>
          <p:nvPr/>
        </p:nvPicPr>
        <p:blipFill>
          <a:blip r:embed="rId4"/>
          <a:stretch>
            <a:fillRect/>
          </a:stretch>
        </p:blipFill>
        <p:spPr>
          <a:xfrm>
            <a:off x="6894576" y="4407408"/>
            <a:ext cx="237744" cy="237744"/>
          </a:xfrm>
          <a:prstGeom prst="rect">
            <a:avLst/>
          </a:prstGeom>
        </p:spPr>
      </p:pic>
      <p:sp>
        <p:nvSpPr>
          <p:cNvPr id="23" name="Text 17"/>
          <p:cNvSpPr txBox="1"/>
          <p:nvPr/>
        </p:nvSpPr>
        <p:spPr>
          <a:xfrm>
            <a:off x="7205472" y="4297680"/>
            <a:ext cx="1444752" cy="457200"/>
          </a:xfrm>
          <a:prstGeom prst="rect">
            <a:avLst/>
          </a:prstGeom>
          <a:noFill/>
          <a:ln/>
        </p:spPr>
        <p:txBody>
          <a:bodyPr wrap="square" lIns="0" tIns="0" rIns="0" bIns="0" rtlCol="0" anchor="ctr"/>
          <a:lstStyle/>
          <a:p>
            <a:pPr indent="0" marL="0">
              <a:buNone/>
            </a:pPr>
            <a:r>
              <a:rPr lang="en-US" sz="1000" dirty="0">
                <a:solidFill>
                  <a:srgbClr val="1C2B25"/>
                </a:solidFill>
                <a:latin typeface="Calibri" pitchFamily="34" charset="0"/>
                <a:ea typeface="Calibri" pitchFamily="34" charset="-122"/>
                <a:cs typeface="Calibri" pitchFamily="34" charset="-120"/>
              </a:rPr>
              <a:t>Runs on localhost only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COMPULSORY  ·  TESTING ON SAMPLE QUERIES</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17 questions, graded by hand</a:t>
            </a:r>
            <a:endParaRPr lang="en-US" sz="2800" dirty="0"/>
          </a:p>
        </p:txBody>
      </p:sp>
      <p:sp>
        <p:nvSpPr>
          <p:cNvPr id="4" name="Shape 2"/>
          <p:cNvSpPr/>
          <p:nvPr/>
        </p:nvSpPr>
        <p:spPr>
          <a:xfrm>
            <a:off x="457200" y="1234440"/>
            <a:ext cx="3108960" cy="3474720"/>
          </a:xfrm>
          <a:prstGeom prst="roundRect">
            <a:avLst>
              <a:gd name="adj" fmla="val 2353"/>
            </a:avLst>
          </a:prstGeom>
          <a:solidFill>
            <a:srgbClr val="0B3D2E"/>
          </a:solidFill>
          <a:ln w="6350">
            <a:solidFill>
              <a:srgbClr val="0B3D2E"/>
            </a:solidFill>
            <a:prstDash val="solid"/>
          </a:ln>
        </p:spPr>
      </p:sp>
      <p:sp>
        <p:nvSpPr>
          <p:cNvPr id="5" name="Text 3"/>
          <p:cNvSpPr txBox="1"/>
          <p:nvPr/>
        </p:nvSpPr>
        <p:spPr>
          <a:xfrm>
            <a:off x="548640" y="1371600"/>
            <a:ext cx="100584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Cambria" pitchFamily="34" charset="0"/>
                <a:ea typeface="Cambria" pitchFamily="34" charset="-122"/>
                <a:cs typeface="Cambria" pitchFamily="34" charset="-120"/>
              </a:rPr>
              <a:t>11</a:t>
            </a:r>
            <a:endParaRPr lang="en-US" sz="3800" dirty="0"/>
          </a:p>
        </p:txBody>
      </p:sp>
      <p:sp>
        <p:nvSpPr>
          <p:cNvPr id="6" name="Text 4"/>
          <p:cNvSpPr txBox="1"/>
          <p:nvPr/>
        </p:nvSpPr>
        <p:spPr>
          <a:xfrm>
            <a:off x="1719072" y="1371600"/>
            <a:ext cx="1737360" cy="685800"/>
          </a:xfrm>
          <a:prstGeom prst="rect">
            <a:avLst/>
          </a:prstGeom>
          <a:noFill/>
          <a:ln/>
        </p:spPr>
        <p:txBody>
          <a:bodyPr wrap="square" lIns="0" tIns="0" rIns="0" bIns="0" rtlCol="0" anchor="ctr"/>
          <a:lstStyle/>
          <a:p>
            <a:pPr indent="0" marL="0">
              <a:buNone/>
            </a:pPr>
            <a:r>
              <a:rPr lang="en-US" sz="1350" dirty="0">
                <a:solidFill>
                  <a:srgbClr val="E6F2EC"/>
                </a:solidFill>
                <a:latin typeface="Calibri" pitchFamily="34" charset="0"/>
                <a:ea typeface="Calibri" pitchFamily="34" charset="-122"/>
                <a:cs typeface="Calibri" pitchFamily="34" charset="-120"/>
              </a:rPr>
              <a:t>correct</a:t>
            </a:r>
            <a:endParaRPr lang="en-US" sz="1350" dirty="0"/>
          </a:p>
        </p:txBody>
      </p:sp>
      <p:sp>
        <p:nvSpPr>
          <p:cNvPr id="7" name="Text 5"/>
          <p:cNvSpPr txBox="1"/>
          <p:nvPr/>
        </p:nvSpPr>
        <p:spPr>
          <a:xfrm>
            <a:off x="548640" y="2148840"/>
            <a:ext cx="100584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Cambria" pitchFamily="34" charset="0"/>
                <a:ea typeface="Cambria" pitchFamily="34" charset="-122"/>
                <a:cs typeface="Cambria" pitchFamily="34" charset="-120"/>
              </a:rPr>
              <a:t>5</a:t>
            </a:r>
            <a:endParaRPr lang="en-US" sz="3800" dirty="0"/>
          </a:p>
        </p:txBody>
      </p:sp>
      <p:sp>
        <p:nvSpPr>
          <p:cNvPr id="8" name="Text 6"/>
          <p:cNvSpPr txBox="1"/>
          <p:nvPr/>
        </p:nvSpPr>
        <p:spPr>
          <a:xfrm>
            <a:off x="1719072" y="2148840"/>
            <a:ext cx="1737360" cy="685800"/>
          </a:xfrm>
          <a:prstGeom prst="rect">
            <a:avLst/>
          </a:prstGeom>
          <a:noFill/>
          <a:ln/>
        </p:spPr>
        <p:txBody>
          <a:bodyPr wrap="square" lIns="0" tIns="0" rIns="0" bIns="0" rtlCol="0" anchor="ctr"/>
          <a:lstStyle/>
          <a:p>
            <a:pPr indent="0" marL="0">
              <a:buNone/>
            </a:pPr>
            <a:r>
              <a:rPr lang="en-US" sz="1350" dirty="0">
                <a:solidFill>
                  <a:srgbClr val="E6F2EC"/>
                </a:solidFill>
                <a:latin typeface="Calibri" pitchFamily="34" charset="0"/>
                <a:ea typeface="Calibri" pitchFamily="34" charset="-122"/>
                <a:cs typeface="Calibri" pitchFamily="34" charset="-120"/>
              </a:rPr>
              <a:t>partial</a:t>
            </a:r>
            <a:endParaRPr lang="en-US" sz="1350" dirty="0"/>
          </a:p>
        </p:txBody>
      </p:sp>
      <p:sp>
        <p:nvSpPr>
          <p:cNvPr id="9" name="Text 7"/>
          <p:cNvSpPr txBox="1"/>
          <p:nvPr/>
        </p:nvSpPr>
        <p:spPr>
          <a:xfrm>
            <a:off x="548640" y="2926080"/>
            <a:ext cx="100584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Cambria" pitchFamily="34" charset="0"/>
                <a:ea typeface="Cambria" pitchFamily="34" charset="-122"/>
                <a:cs typeface="Cambria" pitchFamily="34" charset="-120"/>
              </a:rPr>
              <a:t>1</a:t>
            </a:r>
            <a:endParaRPr lang="en-US" sz="3800" dirty="0"/>
          </a:p>
        </p:txBody>
      </p:sp>
      <p:sp>
        <p:nvSpPr>
          <p:cNvPr id="10" name="Text 8"/>
          <p:cNvSpPr txBox="1"/>
          <p:nvPr/>
        </p:nvSpPr>
        <p:spPr>
          <a:xfrm>
            <a:off x="1719072" y="2926080"/>
            <a:ext cx="1737360" cy="685800"/>
          </a:xfrm>
          <a:prstGeom prst="rect">
            <a:avLst/>
          </a:prstGeom>
          <a:noFill/>
          <a:ln/>
        </p:spPr>
        <p:txBody>
          <a:bodyPr wrap="square" lIns="0" tIns="0" rIns="0" bIns="0" rtlCol="0" anchor="ctr"/>
          <a:lstStyle/>
          <a:p>
            <a:pPr indent="0" marL="0">
              <a:buNone/>
            </a:pPr>
            <a:r>
              <a:rPr lang="en-US" sz="1350" dirty="0">
                <a:solidFill>
                  <a:srgbClr val="E6F2EC"/>
                </a:solidFill>
                <a:latin typeface="Calibri" pitchFamily="34" charset="0"/>
                <a:ea typeface="Calibri" pitchFamily="34" charset="-122"/>
                <a:cs typeface="Calibri" pitchFamily="34" charset="-120"/>
              </a:rPr>
              <a:t>wrong — see next slide</a:t>
            </a:r>
            <a:endParaRPr lang="en-US" sz="1350" dirty="0"/>
          </a:p>
        </p:txBody>
      </p:sp>
      <p:sp>
        <p:nvSpPr>
          <p:cNvPr id="11" name="Text 9"/>
          <p:cNvSpPr txBox="1"/>
          <p:nvPr/>
        </p:nvSpPr>
        <p:spPr>
          <a:xfrm>
            <a:off x="685800" y="3840480"/>
            <a:ext cx="2697480" cy="731520"/>
          </a:xfrm>
          <a:prstGeom prst="rect">
            <a:avLst/>
          </a:prstGeom>
          <a:noFill/>
          <a:ln/>
        </p:spPr>
        <p:txBody>
          <a:bodyPr wrap="square" lIns="0" tIns="0" rIns="0" bIns="0" rtlCol="0" anchor="t"/>
          <a:lstStyle/>
          <a:p>
            <a:pPr indent="0" marL="0">
              <a:buNone/>
            </a:pPr>
            <a:r>
              <a:rPr lang="en-US" sz="1050" dirty="0">
                <a:solidFill>
                  <a:srgbClr val="E6F2EC"/>
                </a:solidFill>
                <a:latin typeface="Calibri" pitchFamily="34" charset="0"/>
                <a:ea typeface="Calibri" pitchFamily="34" charset="-122"/>
                <a:cs typeface="Calibri" pitchFamily="34" charset="-120"/>
              </a:rPr>
              <a:t>Of 16 scored questions — plus one out-of-scope question (Kenyan capital rules), correctly refused.</a:t>
            </a:r>
            <a:endParaRPr lang="en-US" sz="1050" dirty="0"/>
          </a:p>
        </p:txBody>
      </p:sp>
      <p:sp>
        <p:nvSpPr>
          <p:cNvPr id="12" name="Text 10"/>
          <p:cNvSpPr txBox="1"/>
          <p:nvPr/>
        </p:nvSpPr>
        <p:spPr>
          <a:xfrm>
            <a:off x="3794760" y="1234440"/>
            <a:ext cx="4892040" cy="320040"/>
          </a:xfrm>
          <a:prstGeom prst="rect">
            <a:avLst/>
          </a:prstGeom>
          <a:noFill/>
          <a:ln/>
        </p:spPr>
        <p:txBody>
          <a:bodyPr wrap="square" lIns="0" tIns="0" rIns="0" bIns="0" rtlCol="0" anchor="t"/>
          <a:lstStyle/>
          <a:p>
            <a:pPr indent="0" marL="0">
              <a:buNone/>
            </a:pPr>
            <a:r>
              <a:rPr lang="en-US" sz="1400" b="1" dirty="0">
                <a:solidFill>
                  <a:srgbClr val="0B3D2E"/>
                </a:solidFill>
                <a:latin typeface="Calibri" pitchFamily="34" charset="0"/>
                <a:ea typeface="Calibri" pitchFamily="34" charset="-122"/>
                <a:cs typeface="Calibri" pitchFamily="34" charset="-120"/>
              </a:rPr>
              <a:t>What the five partials were</a:t>
            </a:r>
            <a:endParaRPr lang="en-US" sz="1400" dirty="0"/>
          </a:p>
        </p:txBody>
      </p:sp>
      <p:sp>
        <p:nvSpPr>
          <p:cNvPr id="13" name="Shape 11"/>
          <p:cNvSpPr/>
          <p:nvPr/>
        </p:nvSpPr>
        <p:spPr>
          <a:xfrm>
            <a:off x="3794760" y="1737360"/>
            <a:ext cx="457200" cy="457200"/>
          </a:xfrm>
          <a:prstGeom prst="ellipse">
            <a:avLst/>
          </a:prstGeom>
          <a:solidFill>
            <a:srgbClr val="D99A1E"/>
          </a:solidFill>
          <a:ln w="6350">
            <a:solidFill>
              <a:srgbClr val="D99A1E"/>
            </a:solidFill>
            <a:prstDash val="solid"/>
          </a:ln>
        </p:spPr>
      </p:sp>
      <p:sp>
        <p:nvSpPr>
          <p:cNvPr id="14" name="Text 12"/>
          <p:cNvSpPr txBox="1"/>
          <p:nvPr/>
        </p:nvSpPr>
        <p:spPr>
          <a:xfrm>
            <a:off x="3794760" y="1737360"/>
            <a:ext cx="457200" cy="457200"/>
          </a:xfrm>
          <a:prstGeom prst="rect">
            <a:avLst/>
          </a:prstGeom>
          <a:noFill/>
          <a:ln/>
        </p:spPr>
        <p:txBody>
          <a:bodyPr wrap="square" lIns="0" tIns="0" rIns="0" bIns="0" rtlCol="0" anchor="ctr"/>
          <a:lstStyle/>
          <a:p>
            <a:pPr algn="ctr" indent="0" marL="0">
              <a:buNone/>
            </a:pPr>
            <a:r>
              <a:rPr lang="en-US" sz="1500" b="1" dirty="0">
                <a:solidFill>
                  <a:srgbClr val="0B3D2E"/>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434840" y="1719072"/>
            <a:ext cx="4206240" cy="274320"/>
          </a:xfrm>
          <a:prstGeom prst="rect">
            <a:avLst/>
          </a:prstGeom>
          <a:noFill/>
          <a:ln/>
        </p:spPr>
        <p:txBody>
          <a:bodyPr wrap="square" lIns="0" tIns="0" rIns="0" bIns="0" rtlCol="0" anchor="t"/>
          <a:lstStyle/>
          <a:p>
            <a:pPr indent="0" marL="0">
              <a:buNone/>
            </a:pPr>
            <a:r>
              <a:rPr lang="en-US" sz="1250" b="1" dirty="0">
                <a:solidFill>
                  <a:srgbClr val="1C2B25"/>
                </a:solidFill>
                <a:latin typeface="Calibri" pitchFamily="34" charset="0"/>
                <a:ea typeface="Calibri" pitchFamily="34" charset="-122"/>
                <a:cs typeface="Calibri" pitchFamily="34" charset="-120"/>
              </a:rPr>
              <a:t>Wrong regulator leading</a:t>
            </a:r>
            <a:endParaRPr lang="en-US" sz="1250" dirty="0"/>
          </a:p>
        </p:txBody>
      </p:sp>
      <p:sp>
        <p:nvSpPr>
          <p:cNvPr id="16" name="Text 14"/>
          <p:cNvSpPr txBox="1"/>
          <p:nvPr/>
        </p:nvSpPr>
        <p:spPr>
          <a:xfrm>
            <a:off x="4434840" y="2002536"/>
            <a:ext cx="4206240" cy="50292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Bank questions answered mainly from SEC rules while the right CBN instrument ranked lower</a:t>
            </a:r>
            <a:endParaRPr lang="en-US" sz="1100" dirty="0"/>
          </a:p>
        </p:txBody>
      </p:sp>
      <p:sp>
        <p:nvSpPr>
          <p:cNvPr id="17" name="Shape 15"/>
          <p:cNvSpPr/>
          <p:nvPr/>
        </p:nvSpPr>
        <p:spPr>
          <a:xfrm>
            <a:off x="3794760" y="2606040"/>
            <a:ext cx="457200" cy="457200"/>
          </a:xfrm>
          <a:prstGeom prst="ellipse">
            <a:avLst/>
          </a:prstGeom>
          <a:solidFill>
            <a:srgbClr val="D99A1E"/>
          </a:solidFill>
          <a:ln w="6350">
            <a:solidFill>
              <a:srgbClr val="D99A1E"/>
            </a:solidFill>
            <a:prstDash val="solid"/>
          </a:ln>
        </p:spPr>
      </p:sp>
      <p:sp>
        <p:nvSpPr>
          <p:cNvPr id="18" name="Text 16"/>
          <p:cNvSpPr txBox="1"/>
          <p:nvPr/>
        </p:nvSpPr>
        <p:spPr>
          <a:xfrm>
            <a:off x="3794760" y="2606040"/>
            <a:ext cx="457200" cy="457200"/>
          </a:xfrm>
          <a:prstGeom prst="rect">
            <a:avLst/>
          </a:prstGeom>
          <a:noFill/>
          <a:ln/>
        </p:spPr>
        <p:txBody>
          <a:bodyPr wrap="square" lIns="0" tIns="0" rIns="0" bIns="0" rtlCol="0" anchor="ctr"/>
          <a:lstStyle/>
          <a:p>
            <a:pPr algn="ctr" indent="0" marL="0">
              <a:buNone/>
            </a:pPr>
            <a:r>
              <a:rPr lang="en-US" sz="1500" b="1" dirty="0">
                <a:solidFill>
                  <a:srgbClr val="0B3D2E"/>
                </a:solidFill>
                <a:latin typeface="Calibri" pitchFamily="34" charset="0"/>
                <a:ea typeface="Calibri" pitchFamily="34" charset="-122"/>
                <a:cs typeface="Calibri" pitchFamily="34" charset="-120"/>
              </a:rPr>
              <a:t>2</a:t>
            </a:r>
            <a:endParaRPr lang="en-US" sz="1500" dirty="0"/>
          </a:p>
        </p:txBody>
      </p:sp>
      <p:sp>
        <p:nvSpPr>
          <p:cNvPr id="19" name="Text 17"/>
          <p:cNvSpPr txBox="1"/>
          <p:nvPr/>
        </p:nvSpPr>
        <p:spPr>
          <a:xfrm>
            <a:off x="4434840" y="2587752"/>
            <a:ext cx="4206240" cy="274320"/>
          </a:xfrm>
          <a:prstGeom prst="rect">
            <a:avLst/>
          </a:prstGeom>
          <a:noFill/>
          <a:ln/>
        </p:spPr>
        <p:txBody>
          <a:bodyPr wrap="square" lIns="0" tIns="0" rIns="0" bIns="0" rtlCol="0" anchor="t"/>
          <a:lstStyle/>
          <a:p>
            <a:pPr indent="0" marL="0">
              <a:buNone/>
            </a:pPr>
            <a:r>
              <a:rPr lang="en-US" sz="1250" b="1" dirty="0">
                <a:solidFill>
                  <a:srgbClr val="1C2B25"/>
                </a:solidFill>
                <a:latin typeface="Calibri" pitchFamily="34" charset="0"/>
                <a:ea typeface="Calibri" pitchFamily="34" charset="-122"/>
                <a:cs typeface="Calibri" pitchFamily="34" charset="-120"/>
              </a:rPr>
              <a:t>Gaps in the corpus</a:t>
            </a:r>
            <a:endParaRPr lang="en-US" sz="1250" dirty="0"/>
          </a:p>
        </p:txBody>
      </p:sp>
      <p:sp>
        <p:nvSpPr>
          <p:cNvPr id="20" name="Text 18"/>
          <p:cNvSpPr txBox="1"/>
          <p:nvPr/>
        </p:nvSpPr>
        <p:spPr>
          <a:xfrm>
            <a:off x="4434840" y="2871216"/>
            <a:ext cx="4206240" cy="50292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No ingested document defines when an account goes dormant or states a liquidity ratio</a:t>
            </a:r>
            <a:endParaRPr lang="en-US" sz="1100" dirty="0"/>
          </a:p>
        </p:txBody>
      </p:sp>
      <p:sp>
        <p:nvSpPr>
          <p:cNvPr id="21" name="Shape 19"/>
          <p:cNvSpPr/>
          <p:nvPr/>
        </p:nvSpPr>
        <p:spPr>
          <a:xfrm>
            <a:off x="3794760" y="3474720"/>
            <a:ext cx="457200" cy="457200"/>
          </a:xfrm>
          <a:prstGeom prst="ellipse">
            <a:avLst/>
          </a:prstGeom>
          <a:solidFill>
            <a:srgbClr val="D99A1E"/>
          </a:solidFill>
          <a:ln w="6350">
            <a:solidFill>
              <a:srgbClr val="D99A1E"/>
            </a:solidFill>
            <a:prstDash val="solid"/>
          </a:ln>
        </p:spPr>
      </p:sp>
      <p:sp>
        <p:nvSpPr>
          <p:cNvPr id="22" name="Text 20"/>
          <p:cNvSpPr txBox="1"/>
          <p:nvPr/>
        </p:nvSpPr>
        <p:spPr>
          <a:xfrm>
            <a:off x="3794760" y="3474720"/>
            <a:ext cx="457200" cy="457200"/>
          </a:xfrm>
          <a:prstGeom prst="rect">
            <a:avLst/>
          </a:prstGeom>
          <a:noFill/>
          <a:ln/>
        </p:spPr>
        <p:txBody>
          <a:bodyPr wrap="square" lIns="0" tIns="0" rIns="0" bIns="0" rtlCol="0" anchor="ctr"/>
          <a:lstStyle/>
          <a:p>
            <a:pPr algn="ctr" indent="0" marL="0">
              <a:buNone/>
            </a:pPr>
            <a:r>
              <a:rPr lang="en-US" sz="1500" b="1" dirty="0">
                <a:solidFill>
                  <a:srgbClr val="0B3D2E"/>
                </a:solidFill>
                <a:latin typeface="Calibri" pitchFamily="34" charset="0"/>
                <a:ea typeface="Calibri" pitchFamily="34" charset="-122"/>
                <a:cs typeface="Calibri" pitchFamily="34" charset="-120"/>
              </a:rPr>
              <a:t>1</a:t>
            </a:r>
            <a:endParaRPr lang="en-US" sz="1500" dirty="0"/>
          </a:p>
        </p:txBody>
      </p:sp>
      <p:sp>
        <p:nvSpPr>
          <p:cNvPr id="23" name="Text 21"/>
          <p:cNvSpPr txBox="1"/>
          <p:nvPr/>
        </p:nvSpPr>
        <p:spPr>
          <a:xfrm>
            <a:off x="4434840" y="3456432"/>
            <a:ext cx="4206240" cy="274320"/>
          </a:xfrm>
          <a:prstGeom prst="rect">
            <a:avLst/>
          </a:prstGeom>
          <a:noFill/>
          <a:ln/>
        </p:spPr>
        <p:txBody>
          <a:bodyPr wrap="square" lIns="0" tIns="0" rIns="0" bIns="0" rtlCol="0" anchor="t"/>
          <a:lstStyle/>
          <a:p>
            <a:pPr indent="0" marL="0">
              <a:buNone/>
            </a:pPr>
            <a:r>
              <a:rPr lang="en-US" sz="1250" b="1" dirty="0">
                <a:solidFill>
                  <a:srgbClr val="1C2B25"/>
                </a:solidFill>
                <a:latin typeface="Calibri" pitchFamily="34" charset="0"/>
                <a:ea typeface="Calibri" pitchFamily="34" charset="-122"/>
                <a:cs typeface="Calibri" pitchFamily="34" charset="-120"/>
              </a:rPr>
              <a:t>Too vague</a:t>
            </a:r>
            <a:endParaRPr lang="en-US" sz="1250" dirty="0"/>
          </a:p>
        </p:txBody>
      </p:sp>
      <p:sp>
        <p:nvSpPr>
          <p:cNvPr id="24" name="Text 22"/>
          <p:cNvSpPr txBox="1"/>
          <p:nvPr/>
        </p:nvSpPr>
        <p:spPr>
          <a:xfrm>
            <a:off x="4434840" y="3739896"/>
            <a:ext cx="4206240" cy="502920"/>
          </a:xfrm>
          <a:prstGeom prst="rect">
            <a:avLst/>
          </a:prstGeom>
          <a:noFill/>
          <a:ln/>
        </p:spPr>
        <p:txBody>
          <a:bodyPr wrap="square" lIns="0" tIns="0" rIns="0" bIns="0" rtlCol="0" anchor="t"/>
          <a:lstStyle/>
          <a:p>
            <a:pPr indent="0" marL="0">
              <a:buNone/>
            </a:pPr>
            <a:r>
              <a:rPr lang="en-US" sz="1100" dirty="0">
                <a:solidFill>
                  <a:srgbClr val="5B6B64"/>
                </a:solidFill>
                <a:latin typeface="Calibri" pitchFamily="34" charset="0"/>
                <a:ea typeface="Calibri" pitchFamily="34" charset="-122"/>
                <a:cs typeface="Calibri" pitchFamily="34" charset="-120"/>
              </a:rPr>
              <a:t>Named the circular's purpose but left out its figures</a:t>
            </a:r>
            <a:endParaRPr lang="en-US" sz="1100" dirty="0"/>
          </a:p>
        </p:txBody>
      </p:sp>
      <p:sp>
        <p:nvSpPr>
          <p:cNvPr id="25" name="Text 23"/>
          <p:cNvSpPr txBox="1"/>
          <p:nvPr/>
        </p:nvSpPr>
        <p:spPr>
          <a:xfrm>
            <a:off x="3794760" y="4343400"/>
            <a:ext cx="4892040" cy="365760"/>
          </a:xfrm>
          <a:prstGeom prst="rect">
            <a:avLst/>
          </a:prstGeom>
          <a:noFill/>
          <a:ln/>
        </p:spPr>
        <p:txBody>
          <a:bodyPr wrap="square" lIns="0" tIns="0" rIns="0" bIns="0" rtlCol="0" anchor="t"/>
          <a:lstStyle/>
          <a:p>
            <a:pPr indent="0" marL="0">
              <a:buNone/>
            </a:pPr>
            <a:r>
              <a:rPr lang="en-US" sz="1050" i="1" dirty="0">
                <a:solidFill>
                  <a:srgbClr val="5B6B64"/>
                </a:solidFill>
                <a:latin typeface="Calibri" pitchFamily="34" charset="0"/>
                <a:ea typeface="Calibri" pitchFamily="34" charset="-122"/>
                <a:cs typeface="Calibri" pitchFamily="34" charset="-120"/>
              </a:rPr>
              <a:t>On the liquidity question it hedged instead of refusing — a softer failure worth fixing in the prompt.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KEY FINDING</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The one wrong answer was a corrupted file</a:t>
            </a:r>
            <a:endParaRPr lang="en-US" sz="2800" dirty="0"/>
          </a:p>
        </p:txBody>
      </p:sp>
      <p:sp>
        <p:nvSpPr>
          <p:cNvPr id="4" name="Shape 2"/>
          <p:cNvSpPr/>
          <p:nvPr/>
        </p:nvSpPr>
        <p:spPr>
          <a:xfrm>
            <a:off x="457200" y="1234440"/>
            <a:ext cx="4206240" cy="2377440"/>
          </a:xfrm>
          <a:prstGeom prst="roundRect">
            <a:avLst>
              <a:gd name="adj" fmla="val 3077"/>
            </a:avLst>
          </a:prstGeom>
          <a:solidFill>
            <a:srgbClr val="0B3D2E"/>
          </a:solidFill>
          <a:ln w="6350">
            <a:solidFill>
              <a:srgbClr val="0B3D2E"/>
            </a:solidFill>
            <a:prstDash val="solid"/>
          </a:ln>
        </p:spPr>
      </p:sp>
      <p:sp>
        <p:nvSpPr>
          <p:cNvPr id="5" name="Text 3"/>
          <p:cNvSpPr txBox="1"/>
          <p:nvPr/>
        </p:nvSpPr>
        <p:spPr>
          <a:xfrm>
            <a:off x="685800" y="1371600"/>
            <a:ext cx="3840480" cy="228600"/>
          </a:xfrm>
          <a:prstGeom prst="rect">
            <a:avLst/>
          </a:prstGeom>
          <a:noFill/>
          <a:ln/>
        </p:spPr>
        <p:txBody>
          <a:bodyPr wrap="square" lIns="0" tIns="0" rIns="0" bIns="0" rtlCol="0" anchor="t"/>
          <a:lstStyle/>
          <a:p>
            <a:pPr indent="0" marL="0">
              <a:buNone/>
            </a:pPr>
            <a:r>
              <a:rPr lang="en-US" sz="1050" b="1" spc="100" kern="0" dirty="0">
                <a:solidFill>
                  <a:srgbClr val="D99A1E"/>
                </a:solidFill>
                <a:latin typeface="Calibri" pitchFamily="34" charset="0"/>
                <a:ea typeface="Calibri" pitchFamily="34" charset="-122"/>
                <a:cs typeface="Calibri" pitchFamily="34" charset="-120"/>
              </a:rPr>
              <a:t>WHAT THE PDF'S TEXT LAYER CONTAINED</a:t>
            </a:r>
            <a:endParaRPr lang="en-US" sz="1050" dirty="0"/>
          </a:p>
        </p:txBody>
      </p:sp>
      <p:sp>
        <p:nvSpPr>
          <p:cNvPr id="6" name="Text 4"/>
          <p:cNvSpPr txBox="1"/>
          <p:nvPr/>
        </p:nvSpPr>
        <p:spPr>
          <a:xfrm>
            <a:off x="685800" y="1645920"/>
            <a:ext cx="3840480" cy="457200"/>
          </a:xfrm>
          <a:prstGeom prst="rect">
            <a:avLst/>
          </a:prstGeom>
          <a:noFill/>
          <a:ln/>
        </p:spPr>
        <p:txBody>
          <a:bodyPr wrap="square" lIns="0" tIns="0" rIns="0" bIns="0" rtlCol="0" anchor="t"/>
          <a:lstStyle/>
          <a:p>
            <a:pPr indent="0" marL="0">
              <a:buNone/>
            </a:pPr>
            <a:r>
              <a:rPr lang="en-US" sz="2800" b="1" dirty="0">
                <a:solidFill>
                  <a:srgbClr val="FFFFFF"/>
                </a:solidFill>
                <a:latin typeface="Courier New" pitchFamily="34" charset="0"/>
                <a:ea typeface="Courier New" pitchFamily="34" charset="-122"/>
                <a:cs typeface="Courier New" pitchFamily="34" charset="-120"/>
              </a:rPr>
              <a:t>bRVdOPKLQT</a:t>
            </a:r>
            <a:endParaRPr lang="en-US" sz="2800" dirty="0"/>
          </a:p>
        </p:txBody>
      </p:sp>
      <p:sp>
        <p:nvSpPr>
          <p:cNvPr id="7" name="Text 5"/>
          <p:cNvSpPr txBox="1"/>
          <p:nvPr/>
        </p:nvSpPr>
        <p:spPr>
          <a:xfrm>
            <a:off x="685800" y="2121408"/>
            <a:ext cx="3840480" cy="228600"/>
          </a:xfrm>
          <a:prstGeom prst="rect">
            <a:avLst/>
          </a:prstGeom>
          <a:noFill/>
          <a:ln/>
        </p:spPr>
        <p:txBody>
          <a:bodyPr wrap="square" lIns="0" tIns="0" rIns="0" bIns="0" rtlCol="0" anchor="t"/>
          <a:lstStyle/>
          <a:p>
            <a:pPr indent="0" marL="0">
              <a:buNone/>
            </a:pPr>
            <a:r>
              <a:rPr lang="en-US" sz="1050" i="1" dirty="0">
                <a:solidFill>
                  <a:srgbClr val="E6F2EC"/>
                </a:solidFill>
                <a:latin typeface="Calibri" pitchFamily="34" charset="0"/>
                <a:ea typeface="Calibri" pitchFamily="34" charset="-122"/>
                <a:cs typeface="Calibri" pitchFamily="34" charset="-120"/>
              </a:rPr>
              <a:t>decodes letter by letter to</a:t>
            </a:r>
            <a:endParaRPr lang="en-US" sz="1050" dirty="0"/>
          </a:p>
        </p:txBody>
      </p:sp>
      <p:sp>
        <p:nvSpPr>
          <p:cNvPr id="8" name="Text 6"/>
          <p:cNvSpPr txBox="1"/>
          <p:nvPr/>
        </p:nvSpPr>
        <p:spPr>
          <a:xfrm>
            <a:off x="685800" y="2359152"/>
            <a:ext cx="3840480" cy="457200"/>
          </a:xfrm>
          <a:prstGeom prst="rect">
            <a:avLst/>
          </a:prstGeom>
          <a:noFill/>
          <a:ln/>
        </p:spPr>
        <p:txBody>
          <a:bodyPr wrap="square" lIns="0" tIns="0" rIns="0" bIns="0" rtlCol="0" anchor="t"/>
          <a:lstStyle/>
          <a:p>
            <a:pPr indent="0" marL="0">
              <a:buNone/>
            </a:pPr>
            <a:r>
              <a:rPr lang="en-US" sz="2800" b="1" dirty="0">
                <a:solidFill>
                  <a:srgbClr val="D99A1E"/>
                </a:solidFill>
                <a:latin typeface="Courier New" pitchFamily="34" charset="0"/>
                <a:ea typeface="Courier New" pitchFamily="34" charset="-122"/>
                <a:cs typeface="Courier New" pitchFamily="34" charset="-120"/>
              </a:rPr>
              <a:t>complaints</a:t>
            </a:r>
            <a:endParaRPr lang="en-US" sz="2800" dirty="0"/>
          </a:p>
        </p:txBody>
      </p:sp>
      <p:sp>
        <p:nvSpPr>
          <p:cNvPr id="9" name="Text 7"/>
          <p:cNvSpPr txBox="1"/>
          <p:nvPr/>
        </p:nvSpPr>
        <p:spPr>
          <a:xfrm>
            <a:off x="685800" y="2880360"/>
            <a:ext cx="3794760" cy="640080"/>
          </a:xfrm>
          <a:prstGeom prst="rect">
            <a:avLst/>
          </a:prstGeom>
          <a:noFill/>
          <a:ln/>
        </p:spPr>
        <p:txBody>
          <a:bodyPr wrap="square" lIns="0" tIns="0" rIns="0" bIns="0" rtlCol="0" anchor="t"/>
          <a:lstStyle/>
          <a:p>
            <a:pPr indent="0" marL="0">
              <a:buNone/>
            </a:pPr>
            <a:r>
              <a:rPr lang="en-US" sz="1100" dirty="0">
                <a:solidFill>
                  <a:srgbClr val="E6F2EC"/>
                </a:solidFill>
                <a:latin typeface="Calibri" pitchFamily="34" charset="0"/>
                <a:ea typeface="Calibri" pitchFamily="34" charset="-122"/>
                <a:cs typeface="Calibri" pitchFamily="34" charset="-120"/>
              </a:rPr>
              <a:t>A non-standard font encoding scrambled the SEC complaints rules. The file had a text layer, so it was never sent to OCR.</a:t>
            </a:r>
            <a:endParaRPr lang="en-US" sz="1100" dirty="0"/>
          </a:p>
        </p:txBody>
      </p:sp>
      <p:sp>
        <p:nvSpPr>
          <p:cNvPr id="10" name="Text 8"/>
          <p:cNvSpPr txBox="1"/>
          <p:nvPr/>
        </p:nvSpPr>
        <p:spPr>
          <a:xfrm>
            <a:off x="4937760" y="1234440"/>
            <a:ext cx="3749040" cy="594360"/>
          </a:xfrm>
          <a:prstGeom prst="rect">
            <a:avLst/>
          </a:prstGeom>
          <a:noFill/>
          <a:ln/>
        </p:spPr>
        <p:txBody>
          <a:bodyPr wrap="square" lIns="0" tIns="0" rIns="0" bIns="0" rtlCol="0" anchor="ctr"/>
          <a:lstStyle/>
          <a:p>
            <a:pPr indent="0" marL="0">
              <a:buNone/>
            </a:pPr>
            <a:r>
              <a:rPr lang="en-US" sz="3400" b="1" dirty="0">
                <a:solidFill>
                  <a:srgbClr val="1F7A55"/>
                </a:solidFill>
                <a:latin typeface="Cambria" pitchFamily="34" charset="0"/>
                <a:ea typeface="Cambria" pitchFamily="34" charset="-122"/>
                <a:cs typeface="Cambria" pitchFamily="34" charset="-120"/>
              </a:rPr>
              <a:t>621 → 1</a:t>
            </a:r>
            <a:endParaRPr lang="en-US" sz="3400" dirty="0"/>
          </a:p>
        </p:txBody>
      </p:sp>
      <p:sp>
        <p:nvSpPr>
          <p:cNvPr id="11" name="Text 9"/>
          <p:cNvSpPr txBox="1"/>
          <p:nvPr/>
        </p:nvSpPr>
        <p:spPr>
          <a:xfrm>
            <a:off x="4937760" y="1828800"/>
            <a:ext cx="3749040" cy="457200"/>
          </a:xfrm>
          <a:prstGeom prst="rect">
            <a:avLst/>
          </a:prstGeom>
          <a:noFill/>
          <a:ln/>
        </p:spPr>
        <p:txBody>
          <a:bodyPr wrap="square" lIns="0" tIns="0" rIns="0" bIns="0" rtlCol="0" anchor="t"/>
          <a:lstStyle/>
          <a:p>
            <a:pPr indent="0" marL="0">
              <a:buNone/>
            </a:pPr>
            <a:r>
              <a:rPr lang="en-US" sz="1150" dirty="0">
                <a:solidFill>
                  <a:srgbClr val="1C2B25"/>
                </a:solidFill>
                <a:latin typeface="Calibri" pitchFamily="34" charset="0"/>
                <a:ea typeface="Calibri" pitchFamily="34" charset="-122"/>
                <a:cs typeface="Calibri" pitchFamily="34" charset="-120"/>
              </a:rPr>
              <a:t>BM25 rank of the complaints rules for the failing question, before and after re-OCR</a:t>
            </a:r>
            <a:endParaRPr lang="en-US" sz="1150" dirty="0"/>
          </a:p>
        </p:txBody>
      </p:sp>
      <p:sp>
        <p:nvSpPr>
          <p:cNvPr id="12" name="Text 10"/>
          <p:cNvSpPr txBox="1"/>
          <p:nvPr/>
        </p:nvSpPr>
        <p:spPr>
          <a:xfrm>
            <a:off x="4937760" y="2423160"/>
            <a:ext cx="3749040" cy="594360"/>
          </a:xfrm>
          <a:prstGeom prst="rect">
            <a:avLst/>
          </a:prstGeom>
          <a:noFill/>
          <a:ln/>
        </p:spPr>
        <p:txBody>
          <a:bodyPr wrap="square" lIns="0" tIns="0" rIns="0" bIns="0" rtlCol="0" anchor="ctr"/>
          <a:lstStyle/>
          <a:p>
            <a:pPr indent="0" marL="0">
              <a:buNone/>
            </a:pPr>
            <a:r>
              <a:rPr lang="en-US" sz="3400" b="1" dirty="0">
                <a:solidFill>
                  <a:srgbClr val="1F7A55"/>
                </a:solidFill>
                <a:latin typeface="Cambria" pitchFamily="34" charset="0"/>
                <a:ea typeface="Cambria" pitchFamily="34" charset="-122"/>
                <a:cs typeface="Cambria" pitchFamily="34" charset="-120"/>
              </a:rPr>
              <a:t>0 → 75</a:t>
            </a:r>
            <a:endParaRPr lang="en-US" sz="3400" dirty="0"/>
          </a:p>
        </p:txBody>
      </p:sp>
      <p:sp>
        <p:nvSpPr>
          <p:cNvPr id="13" name="Text 11"/>
          <p:cNvSpPr txBox="1"/>
          <p:nvPr/>
        </p:nvSpPr>
        <p:spPr>
          <a:xfrm>
            <a:off x="4937760" y="3017520"/>
            <a:ext cx="3749040" cy="457200"/>
          </a:xfrm>
          <a:prstGeom prst="rect">
            <a:avLst/>
          </a:prstGeom>
          <a:noFill/>
          <a:ln/>
        </p:spPr>
        <p:txBody>
          <a:bodyPr wrap="square" lIns="0" tIns="0" rIns="0" bIns="0" rtlCol="0" anchor="t"/>
          <a:lstStyle/>
          <a:p>
            <a:pPr indent="0" marL="0">
              <a:buNone/>
            </a:pPr>
            <a:r>
              <a:rPr lang="en-US" sz="1150" dirty="0">
                <a:solidFill>
                  <a:srgbClr val="1C2B25"/>
                </a:solidFill>
                <a:latin typeface="Calibri" pitchFamily="34" charset="0"/>
                <a:ea typeface="Calibri" pitchFamily="34" charset="-122"/>
                <a:cs typeface="Calibri" pitchFamily="34" charset="-120"/>
              </a:rPr>
              <a:t>times the word "complaint" appears in the document's text</a:t>
            </a:r>
            <a:endParaRPr lang="en-US" sz="1150" dirty="0"/>
          </a:p>
        </p:txBody>
      </p:sp>
      <p:sp>
        <p:nvSpPr>
          <p:cNvPr id="14" name="Shape 12"/>
          <p:cNvSpPr/>
          <p:nvPr/>
        </p:nvSpPr>
        <p:spPr>
          <a:xfrm>
            <a:off x="457200" y="3840480"/>
            <a:ext cx="8229600" cy="914400"/>
          </a:xfrm>
          <a:prstGeom prst="roundRect">
            <a:avLst>
              <a:gd name="adj" fmla="val 8000"/>
            </a:avLst>
          </a:prstGeom>
          <a:solidFill>
            <a:srgbClr val="E6F2EC"/>
          </a:solidFill>
          <a:ln w="6350">
            <a:solidFill>
              <a:srgbClr val="E6F2EC"/>
            </a:solidFill>
            <a:prstDash val="solid"/>
          </a:ln>
        </p:spPr>
      </p:sp>
      <p:sp>
        <p:nvSpPr>
          <p:cNvPr id="15" name="Shape 13"/>
          <p:cNvSpPr/>
          <p:nvPr/>
        </p:nvSpPr>
        <p:spPr>
          <a:xfrm>
            <a:off x="658368" y="4041648"/>
            <a:ext cx="512064" cy="512064"/>
          </a:xfrm>
          <a:prstGeom prst="ellipse">
            <a:avLst/>
          </a:prstGeom>
          <a:solidFill>
            <a:srgbClr val="1F7A55"/>
          </a:solidFill>
          <a:ln w="6350">
            <a:solidFill>
              <a:srgbClr val="1F7A55"/>
            </a:solidFill>
            <a:prstDash val="solid"/>
          </a:ln>
        </p:spPr>
      </p:sp>
      <p:pic>
        <p:nvPicPr>
          <p:cNvPr id="16" name="Image 0" descr="preencoded.png">    </p:cNvPr>
          <p:cNvPicPr>
            <a:picLocks noChangeAspect="1"/>
          </p:cNvPicPr>
          <p:nvPr/>
        </p:nvPicPr>
        <p:blipFill>
          <a:blip r:embed="rId1"/>
          <a:stretch>
            <a:fillRect/>
          </a:stretch>
        </p:blipFill>
        <p:spPr>
          <a:xfrm>
            <a:off x="773582" y="4156862"/>
            <a:ext cx="281635" cy="281635"/>
          </a:xfrm>
          <a:prstGeom prst="rect">
            <a:avLst/>
          </a:prstGeom>
        </p:spPr>
      </p:pic>
      <p:sp>
        <p:nvSpPr>
          <p:cNvPr id="17" name="Text 14"/>
          <p:cNvSpPr txBox="1"/>
          <p:nvPr/>
        </p:nvSpPr>
        <p:spPr>
          <a:xfrm>
            <a:off x="1353312" y="3931920"/>
            <a:ext cx="7132320" cy="274320"/>
          </a:xfrm>
          <a:prstGeom prst="rect">
            <a:avLst/>
          </a:prstGeom>
          <a:noFill/>
          <a:ln/>
        </p:spPr>
        <p:txBody>
          <a:bodyPr wrap="square" lIns="0" tIns="0" rIns="0" bIns="0" rtlCol="0" anchor="t"/>
          <a:lstStyle/>
          <a:p>
            <a:pPr indent="0" marL="0">
              <a:buNone/>
            </a:pPr>
            <a:r>
              <a:rPr lang="en-US" sz="1250" b="1" dirty="0">
                <a:solidFill>
                  <a:srgbClr val="0B3D2E"/>
                </a:solidFill>
                <a:latin typeface="Calibri" pitchFamily="34" charset="0"/>
                <a:ea typeface="Calibri" pitchFamily="34" charset="-122"/>
                <a:cs typeface="Calibri" pitchFamily="34" charset="-120"/>
              </a:rPr>
              <a:t>What it led to: a quality gate</a:t>
            </a:r>
            <a:endParaRPr lang="en-US" sz="1250" dirty="0"/>
          </a:p>
        </p:txBody>
      </p:sp>
      <p:sp>
        <p:nvSpPr>
          <p:cNvPr id="18" name="Text 15"/>
          <p:cNvSpPr txBox="1"/>
          <p:nvPr/>
        </p:nvSpPr>
        <p:spPr>
          <a:xfrm>
            <a:off x="1353312" y="4206240"/>
            <a:ext cx="7178040" cy="502920"/>
          </a:xfrm>
          <a:prstGeom prst="rect">
            <a:avLst/>
          </a:prstGeom>
          <a:noFill/>
          <a:ln/>
        </p:spPr>
        <p:txBody>
          <a:bodyPr wrap="square" lIns="0" tIns="0" rIns="0" bIns="0" rtlCol="0" anchor="t"/>
          <a:lstStyle/>
          <a:p>
            <a:pPr indent="0" marL="0">
              <a:buNone/>
            </a:pPr>
            <a:r>
              <a:rPr lang="en-US" sz="1100" dirty="0">
                <a:solidFill>
                  <a:srgbClr val="1C2B25"/>
                </a:solidFill>
                <a:latin typeface="Calibri" pitchFamily="34" charset="0"/>
                <a:ea typeface="Calibri" pitchFamily="34" charset="-122"/>
                <a:cs typeface="Calibri" pitchFamily="34" charset="-120"/>
              </a:rPr>
              <a:t>src/quality.py scores every document by its share of common English words — healthy prose 0.20 to 0.46, the cipher 0.15 — and fails an ingest that produces unreadable text.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37744"/>
          </a:xfrm>
          <a:prstGeom prst="rect">
            <a:avLst/>
          </a:prstGeom>
          <a:noFill/>
          <a:ln/>
        </p:spPr>
        <p:txBody>
          <a:bodyPr wrap="square" lIns="0" tIns="0" rIns="0" bIns="0" rtlCol="0" anchor="t"/>
          <a:lstStyle/>
          <a:p>
            <a:pPr indent="0" marL="0">
              <a:buNone/>
            </a:pPr>
            <a:r>
              <a:rPr lang="en-US" sz="1050" b="1" spc="150" kern="0" dirty="0">
                <a:solidFill>
                  <a:srgbClr val="D99A1E"/>
                </a:solidFill>
                <a:latin typeface="Calibri" pitchFamily="34" charset="0"/>
                <a:ea typeface="Calibri" pitchFamily="34" charset="-122"/>
                <a:cs typeface="Calibri" pitchFamily="34" charset="-120"/>
              </a:rPr>
              <a:t>LIMITATIONS AND NEXT STEPS</a:t>
            </a:r>
            <a:endParaRPr lang="en-US" sz="1050" dirty="0"/>
          </a:p>
        </p:txBody>
      </p:sp>
      <p:sp>
        <p:nvSpPr>
          <p:cNvPr id="3" name="Text 1"/>
          <p:cNvSpPr txBox="1"/>
          <p:nvPr/>
        </p:nvSpPr>
        <p:spPr>
          <a:xfrm>
            <a:off x="457200" y="512064"/>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mbria" pitchFamily="34" charset="0"/>
                <a:ea typeface="Cambria" pitchFamily="34" charset="-122"/>
                <a:cs typeface="Cambria" pitchFamily="34" charset="-120"/>
              </a:rPr>
              <a:t>What's missing, and what comes next</a:t>
            </a:r>
            <a:endParaRPr lang="en-US" sz="2800" dirty="0"/>
          </a:p>
        </p:txBody>
      </p:sp>
      <p:sp>
        <p:nvSpPr>
          <p:cNvPr id="4" name="Shape 2"/>
          <p:cNvSpPr/>
          <p:nvPr/>
        </p:nvSpPr>
        <p:spPr>
          <a:xfrm>
            <a:off x="457200" y="1234440"/>
            <a:ext cx="4023360" cy="3474720"/>
          </a:xfrm>
          <a:prstGeom prst="roundRect">
            <a:avLst>
              <a:gd name="adj" fmla="val 2105"/>
            </a:avLst>
          </a:prstGeom>
          <a:solidFill>
            <a:srgbClr val="E6F2EC"/>
          </a:solidFill>
          <a:ln w="6350">
            <a:solidFill>
              <a:srgbClr val="E6F2EC"/>
            </a:solidFill>
            <a:prstDash val="solid"/>
          </a:ln>
        </p:spPr>
      </p:sp>
      <p:sp>
        <p:nvSpPr>
          <p:cNvPr id="5" name="Text 3"/>
          <p:cNvSpPr txBox="1"/>
          <p:nvPr/>
        </p:nvSpPr>
        <p:spPr>
          <a:xfrm>
            <a:off x="685800" y="1389888"/>
            <a:ext cx="3566160" cy="320040"/>
          </a:xfrm>
          <a:prstGeom prst="rect">
            <a:avLst/>
          </a:prstGeom>
          <a:noFill/>
          <a:ln/>
        </p:spPr>
        <p:txBody>
          <a:bodyPr wrap="square" lIns="0" tIns="0" rIns="0" bIns="0" rtlCol="0" anchor="t"/>
          <a:lstStyle/>
          <a:p>
            <a:pPr indent="0" marL="0">
              <a:buNone/>
            </a:pPr>
            <a:r>
              <a:rPr lang="en-US" sz="1500" b="1" dirty="0">
                <a:solidFill>
                  <a:srgbClr val="0B3D2E"/>
                </a:solidFill>
                <a:latin typeface="Calibri" pitchFamily="34" charset="0"/>
                <a:ea typeface="Calibri" pitchFamily="34" charset="-122"/>
                <a:cs typeface="Calibri" pitchFamily="34" charset="-120"/>
              </a:rPr>
              <a:t>Known limitations</a:t>
            </a:r>
            <a:endParaRPr lang="en-US" sz="1500" dirty="0"/>
          </a:p>
        </p:txBody>
      </p:sp>
      <p:sp>
        <p:nvSpPr>
          <p:cNvPr id="6" name="Text 4"/>
          <p:cNvSpPr txBox="1"/>
          <p:nvPr/>
        </p:nvSpPr>
        <p:spPr>
          <a:xfrm>
            <a:off x="685800" y="1847088"/>
            <a:ext cx="3611880" cy="274320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C2B25"/>
                </a:solidFill>
                <a:latin typeface="Calibri" pitchFamily="34" charset="0"/>
                <a:ea typeface="Calibri" pitchFamily="34" charset="-122"/>
                <a:cs typeface="Calibri" pitchFamily="34" charset="-120"/>
              </a:rPr>
              <a:t>Follow-up questions aren't understood yet — each is answered on its own</a:t>
            </a:r>
            <a:endParaRPr lang="en-US" sz="1300" dirty="0"/>
          </a:p>
          <a:p>
            <a:pPr marL="342900" indent="-342900">
              <a:spcAft>
                <a:spcPts val="1200"/>
              </a:spcAft>
              <a:buSzPct val="100000"/>
              <a:buChar char="•"/>
            </a:pPr>
            <a:r>
              <a:rPr lang="en-US" sz="1300" dirty="0">
                <a:solidFill>
                  <a:srgbClr val="1C2B25"/>
                </a:solidFill>
                <a:latin typeface="Calibri" pitchFamily="34" charset="0"/>
                <a:ea typeface="Calibri" pitchFamily="34" charset="-122"/>
                <a:cs typeface="Calibri" pitchFamily="34" charset="-120"/>
              </a:rPr>
              <a:t>One scan is still degraded: the CBN tiered-KYC circular</a:t>
            </a:r>
            <a:endParaRPr lang="en-US" sz="1300" dirty="0"/>
          </a:p>
          <a:p>
            <a:pPr marL="342900" indent="-342900">
              <a:spcAft>
                <a:spcPts val="1200"/>
              </a:spcAft>
              <a:buSzPct val="100000"/>
              <a:buChar char="•"/>
            </a:pPr>
            <a:r>
              <a:rPr lang="en-US" sz="1300" dirty="0">
                <a:solidFill>
                  <a:srgbClr val="1C2B25"/>
                </a:solidFill>
                <a:latin typeface="Calibri" pitchFamily="34" charset="0"/>
                <a:ea typeface="Calibri" pitchFamily="34" charset="-122"/>
                <a:cs typeface="Calibri" pitchFamily="34" charset="-120"/>
              </a:rPr>
              <a:t>61% of the corpus is SEC text; routing only partly offsets it</a:t>
            </a:r>
            <a:endParaRPr lang="en-US" sz="1300" dirty="0"/>
          </a:p>
          <a:p>
            <a:pPr marL="342900" indent="-342900">
              <a:spcAft>
                <a:spcPts val="1200"/>
              </a:spcAft>
              <a:buSzPct val="100000"/>
              <a:buChar char="•"/>
            </a:pPr>
            <a:r>
              <a:rPr lang="en-US" sz="1300" dirty="0">
                <a:solidFill>
                  <a:srgbClr val="1C2B25"/>
                </a:solidFill>
                <a:latin typeface="Calibri" pitchFamily="34" charset="0"/>
                <a:ea typeface="Calibri" pitchFamily="34" charset="-122"/>
                <a:cs typeface="Calibri" pitchFamily="34" charset="-120"/>
              </a:rPr>
              <a:t>Free tier allows about 20 requests a day on the primary model</a:t>
            </a:r>
            <a:endParaRPr lang="en-US" sz="1300" dirty="0"/>
          </a:p>
        </p:txBody>
      </p:sp>
      <p:sp>
        <p:nvSpPr>
          <p:cNvPr id="7" name="Shape 5"/>
          <p:cNvSpPr/>
          <p:nvPr/>
        </p:nvSpPr>
        <p:spPr>
          <a:xfrm>
            <a:off x="4663440" y="1234440"/>
            <a:ext cx="4023360" cy="3474720"/>
          </a:xfrm>
          <a:prstGeom prst="roundRect">
            <a:avLst>
              <a:gd name="adj" fmla="val 2105"/>
            </a:avLst>
          </a:prstGeom>
          <a:solidFill>
            <a:srgbClr val="0B3D2E"/>
          </a:solidFill>
          <a:ln w="6350">
            <a:solidFill>
              <a:srgbClr val="0B3D2E"/>
            </a:solidFill>
            <a:prstDash val="solid"/>
          </a:ln>
        </p:spPr>
      </p:sp>
      <p:sp>
        <p:nvSpPr>
          <p:cNvPr id="8" name="Text 6"/>
          <p:cNvSpPr txBox="1"/>
          <p:nvPr/>
        </p:nvSpPr>
        <p:spPr>
          <a:xfrm>
            <a:off x="4892040" y="1389888"/>
            <a:ext cx="3566160" cy="320040"/>
          </a:xfrm>
          <a:prstGeom prst="rect">
            <a:avLst/>
          </a:prstGeom>
          <a:noFill/>
          <a:ln/>
        </p:spPr>
        <p:txBody>
          <a:bodyPr wrap="square" lIns="0" tIns="0" rIns="0" bIns="0" rtlCol="0" anchor="t"/>
          <a:lstStyle/>
          <a:p>
            <a:pPr indent="0" marL="0">
              <a:buNone/>
            </a:pPr>
            <a:r>
              <a:rPr lang="en-US" sz="1500" b="1" dirty="0">
                <a:solidFill>
                  <a:srgbClr val="D99A1E"/>
                </a:solidFill>
                <a:latin typeface="Calibri" pitchFamily="34" charset="0"/>
                <a:ea typeface="Calibri" pitchFamily="34" charset="-122"/>
                <a:cs typeface="Calibri" pitchFamily="34" charset="-120"/>
              </a:rPr>
              <a:t>Next steps</a:t>
            </a:r>
            <a:endParaRPr lang="en-US" sz="1500" dirty="0"/>
          </a:p>
        </p:txBody>
      </p:sp>
      <p:sp>
        <p:nvSpPr>
          <p:cNvPr id="9" name="Text 7"/>
          <p:cNvSpPr txBox="1"/>
          <p:nvPr/>
        </p:nvSpPr>
        <p:spPr>
          <a:xfrm>
            <a:off x="4892040" y="1847088"/>
            <a:ext cx="3611880" cy="274320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Compare embedding models side by side, including a commercial one</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Test whether dense retrieval adds noise — BM25 alone ranks the right document top-3 for 14 of 16 questions</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Rewrite follow-ups into standalone questions for true multi-turn chat</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Re-OCR the KYC circular, as was done for the complaints rules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2E"/>
        </a:solidFill>
      </p:bgPr>
    </p:bg>
    <p:spTree>
      <p:nvGrpSpPr>
        <p:cNvPr id="1" name=""/>
        <p:cNvGrpSpPr/>
        <p:nvPr/>
      </p:nvGrpSpPr>
      <p:grpSpPr>
        <a:xfrm>
          <a:off x="0" y="0"/>
          <a:ext cx="0" cy="0"/>
          <a:chOff x="0" y="0"/>
          <a:chExt cx="0" cy="0"/>
        </a:xfrm>
      </p:grpSpPr>
      <p:sp>
        <p:nvSpPr>
          <p:cNvPr id="2" name="Text 0"/>
          <p:cNvSpPr txBox="1"/>
          <p:nvPr/>
        </p:nvSpPr>
        <p:spPr>
          <a:xfrm>
            <a:off x="548640" y="685800"/>
            <a:ext cx="5760720" cy="274320"/>
          </a:xfrm>
          <a:prstGeom prst="rect">
            <a:avLst/>
          </a:prstGeom>
          <a:noFill/>
          <a:ln/>
        </p:spPr>
        <p:txBody>
          <a:bodyPr wrap="square" lIns="0" tIns="0" rIns="0" bIns="0" rtlCol="0" anchor="t"/>
          <a:lstStyle/>
          <a:p>
            <a:pPr indent="0" marL="0">
              <a:buNone/>
            </a:pPr>
            <a:r>
              <a:rPr lang="en-US" sz="1200" b="1" spc="200" kern="0" dirty="0">
                <a:solidFill>
                  <a:srgbClr val="D99A1E"/>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48640" y="987552"/>
            <a:ext cx="5852160" cy="9601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Grounded, cited, and honest about its limits</a:t>
            </a:r>
            <a:endParaRPr lang="en-US" sz="2800" dirty="0"/>
          </a:p>
        </p:txBody>
      </p:sp>
      <p:sp>
        <p:nvSpPr>
          <p:cNvPr id="4" name="Shape 2"/>
          <p:cNvSpPr/>
          <p:nvPr/>
        </p:nvSpPr>
        <p:spPr>
          <a:xfrm>
            <a:off x="548640" y="2148840"/>
            <a:ext cx="384048" cy="384048"/>
          </a:xfrm>
          <a:prstGeom prst="ellipse">
            <a:avLst/>
          </a:prstGeom>
          <a:solidFill>
            <a:srgbClr val="D99A1E"/>
          </a:solidFill>
          <a:ln w="6350">
            <a:solidFill>
              <a:srgbClr val="D99A1E"/>
            </a:solidFill>
            <a:prstDash val="solid"/>
          </a:ln>
        </p:spPr>
      </p:sp>
      <p:sp>
        <p:nvSpPr>
          <p:cNvPr id="5" name="Text 3"/>
          <p:cNvSpPr txBox="1"/>
          <p:nvPr/>
        </p:nvSpPr>
        <p:spPr>
          <a:xfrm>
            <a:off x="548640" y="2148840"/>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2057400"/>
            <a:ext cx="521208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All seven compulsory goals addressed, plus the Streamlit stretch goal — the embedding comparison is the one partial</a:t>
            </a:r>
            <a:endParaRPr lang="en-US" sz="1250" dirty="0"/>
          </a:p>
        </p:txBody>
      </p:sp>
      <p:sp>
        <p:nvSpPr>
          <p:cNvPr id="7" name="Shape 5"/>
          <p:cNvSpPr/>
          <p:nvPr/>
        </p:nvSpPr>
        <p:spPr>
          <a:xfrm>
            <a:off x="548640" y="2807208"/>
            <a:ext cx="384048" cy="384048"/>
          </a:xfrm>
          <a:prstGeom prst="ellipse">
            <a:avLst/>
          </a:prstGeom>
          <a:solidFill>
            <a:srgbClr val="D99A1E"/>
          </a:solidFill>
          <a:ln w="6350">
            <a:solidFill>
              <a:srgbClr val="D99A1E"/>
            </a:solidFill>
            <a:prstDash val="solid"/>
          </a:ln>
        </p:spPr>
      </p:sp>
      <p:sp>
        <p:nvSpPr>
          <p:cNvPr id="8" name="Text 6"/>
          <p:cNvSpPr txBox="1"/>
          <p:nvPr/>
        </p:nvSpPr>
        <p:spPr>
          <a:xfrm>
            <a:off x="548640" y="2807208"/>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97280" y="2715768"/>
            <a:ext cx="521208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 answer cites passages you can read, and the bot refuses rather than guesses</a:t>
            </a:r>
            <a:endParaRPr lang="en-US" sz="1250" dirty="0"/>
          </a:p>
        </p:txBody>
      </p:sp>
      <p:sp>
        <p:nvSpPr>
          <p:cNvPr id="10" name="Shape 8"/>
          <p:cNvSpPr/>
          <p:nvPr/>
        </p:nvSpPr>
        <p:spPr>
          <a:xfrm>
            <a:off x="548640" y="3465576"/>
            <a:ext cx="384048" cy="384048"/>
          </a:xfrm>
          <a:prstGeom prst="ellipse">
            <a:avLst/>
          </a:prstGeom>
          <a:solidFill>
            <a:srgbClr val="D99A1E"/>
          </a:solidFill>
          <a:ln w="6350">
            <a:solidFill>
              <a:srgbClr val="D99A1E"/>
            </a:solidFill>
            <a:prstDash val="solid"/>
          </a:ln>
        </p:spPr>
      </p:sp>
      <p:sp>
        <p:nvSpPr>
          <p:cNvPr id="11" name="Text 9"/>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97280" y="3374136"/>
            <a:ext cx="521208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biggest quality gain came from fixing the data, not tuning the model</a:t>
            </a:r>
            <a:endParaRPr lang="en-US" sz="1250" dirty="0"/>
          </a:p>
        </p:txBody>
      </p:sp>
      <p:pic>
        <p:nvPicPr>
          <p:cNvPr id="13" name="Image 0" descr="preencoded.png">    </p:cNvPr>
          <p:cNvPicPr>
            <a:picLocks noChangeAspect="1"/>
          </p:cNvPicPr>
          <p:nvPr/>
        </p:nvPicPr>
        <p:blipFill>
          <a:blip r:embed="rId1"/>
          <a:stretch>
            <a:fillRect/>
          </a:stretch>
        </p:blipFill>
        <p:spPr>
          <a:xfrm>
            <a:off x="548640" y="4315968"/>
            <a:ext cx="274320" cy="274320"/>
          </a:xfrm>
          <a:prstGeom prst="rect">
            <a:avLst/>
          </a:prstGeom>
        </p:spPr>
      </p:pic>
      <p:sp>
        <p:nvSpPr>
          <p:cNvPr id="14" name="Text 11">
            <a:hlinkClick r:id="rId2" tooltip=""/>
          </p:cNvPr>
          <p:cNvSpPr txBox="1"/>
          <p:nvPr/>
        </p:nvSpPr>
        <p:spPr>
          <a:xfrm>
            <a:off x="932688" y="4297680"/>
            <a:ext cx="5029200" cy="310896"/>
          </a:xfrm>
          <a:prstGeom prst="rect">
            <a:avLst/>
          </a:prstGeom>
          <a:noFill/>
          <a:ln/>
        </p:spPr>
        <p:txBody>
          <a:bodyPr wrap="square" lIns="0" tIns="0" rIns="0" bIns="0" rtlCol="0" anchor="ctr"/>
          <a:lstStyle/>
          <a:p>
            <a:pPr indent="0" marL="0">
              <a:buNone/>
            </a:pPr>
            <a:r>
              <a:rPr lang="en-US" sz="1300" u="sng" dirty="0">
                <a:solidFill>
                  <a:srgbClr val="E6F2E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github.com/PhilixOkigbo/nigeria-reg-rag</a:t>
            </a:r>
            <a:endParaRPr lang="en-US" sz="1300" dirty="0"/>
          </a:p>
        </p:txBody>
      </p:sp>
      <p:sp>
        <p:nvSpPr>
          <p:cNvPr id="15" name="Shape 12"/>
          <p:cNvSpPr/>
          <p:nvPr/>
        </p:nvSpPr>
        <p:spPr>
          <a:xfrm>
            <a:off x="6675120" y="1097280"/>
            <a:ext cx="2103120" cy="2103120"/>
          </a:xfrm>
          <a:prstGeom prst="ellipse">
            <a:avLst/>
          </a:prstGeom>
          <a:solidFill>
            <a:srgbClr val="1F7A55"/>
          </a:solidFill>
          <a:ln w="6350">
            <a:solidFill>
              <a:srgbClr val="1F7A55"/>
            </a:solidFill>
            <a:prstDash val="solid"/>
          </a:ln>
        </p:spPr>
      </p:sp>
      <p:sp>
        <p:nvSpPr>
          <p:cNvPr id="16" name="Text 13"/>
          <p:cNvSpPr txBox="1"/>
          <p:nvPr/>
        </p:nvSpPr>
        <p:spPr>
          <a:xfrm>
            <a:off x="6675120" y="1097280"/>
            <a:ext cx="2103120" cy="2103120"/>
          </a:xfrm>
          <a:prstGeom prst="rect">
            <a:avLst/>
          </a:prstGeom>
          <a:noFill/>
          <a:ln/>
        </p:spPr>
        <p:txBody>
          <a:bodyPr wrap="square" lIns="0" tIns="0" rIns="0" bIns="0" rtlCol="0" anchor="ctr"/>
          <a:lstStyle/>
          <a:p>
            <a:pPr algn="ctr" indent="0" marL="0">
              <a:buNone/>
            </a:pPr>
            <a:r>
              <a:rPr lang="en-US" sz="11000" dirty="0">
                <a:solidFill>
                  <a:srgbClr val="FFFFFF"/>
                </a:solidFill>
                <a:latin typeface="Cambria" pitchFamily="34" charset="0"/>
                <a:ea typeface="Cambria" pitchFamily="34" charset="-122"/>
                <a:cs typeface="Cambria" pitchFamily="34" charset="-120"/>
              </a:rPr>
              <a:t>§</a:t>
            </a:r>
            <a:endParaRPr lang="en-US" sz="11000" dirty="0"/>
          </a:p>
        </p:txBody>
      </p:sp>
      <p:sp>
        <p:nvSpPr>
          <p:cNvPr id="17" name="Text 14"/>
          <p:cNvSpPr txBox="1"/>
          <p:nvPr/>
        </p:nvSpPr>
        <p:spPr>
          <a:xfrm>
            <a:off x="6400800" y="3429000"/>
            <a:ext cx="265176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Nigerian Banking Regulation Assistant - Capstone</dc:title>
  <dc:subject>PptxGenJS Presentation</dc:subject>
  <dc:creator>Chinedu Okigbo</dc:creator>
  <cp:lastModifiedBy>Chinedu Okigbo</cp:lastModifiedBy>
  <cp:revision>1</cp:revision>
  <dcterms:created xsi:type="dcterms:W3CDTF">2026-09-25T10:51:10Z</dcterms:created>
  <dcterms:modified xsi:type="dcterms:W3CDTF">2026-09-25T10:51:10Z</dcterms:modified>
</cp:coreProperties>
</file>